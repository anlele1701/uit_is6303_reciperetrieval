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bd9541f-0527-adbc-7da9-1c47d338fd3b}">
          <p14:sldIdLst>
            <p14:sldId id="256"/>
            <p14:sldId id="257"/>
          </p14:sldIdLst>
        </p14:section>
        <p14:section name="1. Bài toán" id="{10cc49e5-b0d6-f4c1-01a9-a4101d091533}">
          <p14:sldIdLst>
            <p14:sldId id="258"/>
            <p14:sldId id="259"/>
          </p14:sldIdLst>
        </p14:section>
        <p14:section name="2. Ý tưởng và phương pháp" id="{bb62e1f9-6649-a0b8-8682-c8ff877c0e69}">
          <p14:sldIdLst>
            <p14:sldId id="260"/>
            <p14:sldId id="261"/>
          </p14:sldIdLst>
        </p14:section>
        <p14:section name="3. Thiết kế thực nghiệm" id="{aef9ffab-0bb5-8f95-82b0-cd3260109bf3}">
          <p14:sldIdLst>
            <p14:sldId id="262"/>
            <p14:sldId id="263"/>
            <p14:sldId id="264"/>
            <p14:sldId id="265"/>
            <p14:sldId id="266"/>
            <p14:sldId id="267"/>
          </p14:sldIdLst>
        </p14:section>
        <p14:section name="4. Kết quả và nhận xét" id="{cbcb10ef-1df6-5924-62f2-9fe703425518}">
          <p14:sldIdLst>
            <p14:sldId id="268"/>
            <p14:sldId id="269"/>
            <p14:sldId id="270"/>
            <p14:sldId id="271"/>
            <p14:sldId id="272"/>
            <p14:sldId id="273"/>
            <p14:sldId id="274"/>
          </p14:sldIdLst>
        </p14:section>
        <p14:section name="Tài liệu tham khảo" id="{3921065d-5558-fa23-2cb4-ea34fc4d32e6}">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EFEFEF"/>
        </a:solidFill>
      </p:bgPr>
    </p:bg>
    <p:spTree>
      <p:nvGrpSpPr>
        <p:cNvPr id="1" name=""/>
        <p:cNvGrpSpPr/>
        <p:nvPr/>
      </p:nvGrpSpPr>
      <p:grpSpPr>
        <a:xfrm>
          <a:off x="0" y="0"/>
          <a:ext cx="0" cy="0"/>
          <a:chOff x="0" y="0"/>
          <a:chExt cx="0" cy="0"/>
        </a:xfrm>
      </p:grpSpPr>
      <p:sp>
        <p:nvSpPr>
          <p:cNvPr id="2" name="Shape 0"/>
          <p:cNvSpPr/>
          <p:nvPr/>
        </p:nvSpPr>
        <p:spPr>
          <a:xfrm>
            <a:off x="0" y="0"/>
            <a:ext cx="18288000" cy="1253642"/>
          </a:xfrm>
          <a:prstGeom prst="rect">
            <a:avLst/>
          </a:prstGeom>
          <a:solidFill>
            <a:schemeClr val="accent1"/>
          </a:solidFill>
          <a:ln/>
        </p:spPr>
      </p:sp>
      <p:sp>
        <p:nvSpPr>
          <p:cNvPr id="3" name="Text 1"/>
          <p:cNvSpPr/>
          <p:nvPr/>
        </p:nvSpPr>
        <p:spPr>
          <a:xfrm>
            <a:off x="308153" y="155448"/>
            <a:ext cx="9144000" cy="941832"/>
          </a:xfrm>
          <a:prstGeom prst="rect">
            <a:avLst/>
          </a:prstGeom>
          <a:noFill/>
          <a:ln/>
        </p:spPr>
        <p:txBody>
          <a:bodyPr wrap="square" lIns="0" tIns="0" rIns="0" bIns="0" rtlCol="0" anchor="ctr"/>
          <a:lstStyle/>
          <a:p>
            <a:pPr indent="0" marL="0">
              <a:buNone/>
            </a:pPr>
            <a:r>
              <a:rPr lang="en-US" sz="2800" b="1" dirty="0">
                <a:solidFill>
                  <a:schemeClr val="bg1"/>
                </a:solidFill>
                <a:latin typeface="Roboto Bold" pitchFamily="34" charset="0"/>
                <a:ea typeface="Roboto Bold" pitchFamily="34" charset="-122"/>
                <a:cs typeface="Roboto Bold" pitchFamily="34" charset="-120"/>
              </a:rPr>
              <a:t>ĐẠI HỌC QUỐC GIA TP. HỒ CHÍ MINH</a:t>
            </a:r>
            <a:endParaRPr lang="en-US" sz="2800" dirty="0"/>
          </a:p>
          <a:p>
            <a:pPr indent="0" marL="0">
              <a:buNone/>
            </a:pPr>
            <a:r>
              <a:rPr lang="en-US" sz="2800" b="1" dirty="0">
                <a:solidFill>
                  <a:schemeClr val="bg1"/>
                </a:solidFill>
                <a:latin typeface="Roboto Bold" pitchFamily="34" charset="0"/>
                <a:ea typeface="Roboto Bold" pitchFamily="34" charset="-122"/>
                <a:cs typeface="Roboto Bold" pitchFamily="34" charset="-120"/>
              </a:rPr>
              <a:t>TRƯỜNG ĐẠI HỌC CÔNG NGHỆ THÔNG TIN</a:t>
            </a:r>
            <a:endParaRPr lang="en-US" sz="2800" dirty="0"/>
          </a:p>
        </p:txBody>
      </p:sp>
      <p:sp>
        <p:nvSpPr>
          <p:cNvPr id="4" name="Text 2"/>
          <p:cNvSpPr/>
          <p:nvPr/>
        </p:nvSpPr>
        <p:spPr>
          <a:xfrm>
            <a:off x="14996160" y="365760"/>
            <a:ext cx="2743200" cy="548640"/>
          </a:xfrm>
          <a:prstGeom prst="rect">
            <a:avLst/>
          </a:prstGeom>
          <a:noFill/>
          <a:ln/>
        </p:spPr>
        <p:txBody>
          <a:bodyPr wrap="square" lIns="0" tIns="0" rIns="0" bIns="0" rtlCol="0" anchor="ctr"/>
          <a:lstStyle/>
          <a:p>
            <a:pPr algn="r" indent="0" marL="0">
              <a:buNone/>
            </a:pPr>
            <a:r>
              <a:rPr lang="en-US" sz="3700" dirty="0">
                <a:solidFill>
                  <a:schemeClr val="bg1"/>
                </a:solidFill>
              </a:rPr>
              <a:t>IS6303</a:t>
            </a:r>
            <a:endParaRPr lang="en-US" sz="3700" dirty="0"/>
          </a:p>
        </p:txBody>
      </p:sp>
      <p:pic>
        <p:nvPicPr>
          <p:cNvPr id="5" name="Image 0" descr="/sessions/trusting-intelligent-wozniak/mnt/outputs/build/assets/logo.png">    </p:cNvPr>
          <p:cNvPicPr>
            <a:picLocks noChangeAspect="1"/>
          </p:cNvPicPr>
          <p:nvPr/>
        </p:nvPicPr>
        <p:blipFill>
          <a:blip r:embed="rId1"/>
          <a:stretch>
            <a:fillRect/>
          </a:stretch>
        </p:blipFill>
        <p:spPr>
          <a:xfrm>
            <a:off x="15672816" y="7278624"/>
            <a:ext cx="2017166" cy="241218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253642"/>
          </a:xfrm>
          <a:prstGeom prst="rect">
            <a:avLst/>
          </a:prstGeom>
          <a:solidFill>
            <a:schemeClr val="accent1"/>
          </a:solidFill>
          <a:ln/>
        </p:spPr>
      </p:sp>
      <p:sp>
        <p:nvSpPr>
          <p:cNvPr id="3" name="Shape 1"/>
          <p:cNvSpPr/>
          <p:nvPr/>
        </p:nvSpPr>
        <p:spPr>
          <a:xfrm>
            <a:off x="0" y="10058400"/>
            <a:ext cx="18288000" cy="228600"/>
          </a:xfrm>
          <a:prstGeom prst="rect">
            <a:avLst/>
          </a:prstGeom>
          <a:solidFill>
            <a:schemeClr val="accent1"/>
          </a:solidFill>
          <a:ln/>
        </p:spPr>
      </p:sp>
      <p:sp>
        <p:nvSpPr>
          <p:cNvPr id="4" name="Text 2"/>
          <p:cNvSpPr/>
          <p:nvPr>
            <p:ph idx="102" type="title" hasCustomPrompt="1"/>
          </p:nvPr>
        </p:nvSpPr>
        <p:spPr>
          <a:xfrm>
            <a:off x="941832" y="54864"/>
            <a:ext cx="16367760" cy="118872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28700" y="2148840"/>
            <a:ext cx="16642080" cy="100584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Thiết kế hệ thống thông tin truy hồi</a:t>
            </a:r>
            <a:endParaRPr lang="en-US" sz="6000" dirty="0"/>
          </a:p>
        </p:txBody>
      </p:sp>
      <p:sp>
        <p:nvSpPr>
          <p:cNvPr id="3" name="Text 1"/>
          <p:cNvSpPr txBox="1"/>
          <p:nvPr/>
        </p:nvSpPr>
        <p:spPr>
          <a:xfrm>
            <a:off x="1028700" y="3429000"/>
            <a:ext cx="14081760" cy="2468880"/>
          </a:xfrm>
          <a:prstGeom prst="rect">
            <a:avLst/>
          </a:prstGeom>
          <a:noFill/>
          <a:ln/>
        </p:spPr>
        <p:txBody>
          <a:bodyPr wrap="square" lIns="0" tIns="0" rIns="0" bIns="0" rtlCol="0" anchor="t"/>
          <a:lstStyle/>
          <a:p>
            <a:pPr indent="0" marL="0">
              <a:buNone/>
            </a:pPr>
            <a:r>
              <a:rPr lang="en-US" sz="4400" b="1" dirty="0">
                <a:solidFill>
                  <a:schemeClr val="tx1"/>
                </a:solidFill>
                <a:latin typeface="Arial" pitchFamily="34" charset="0"/>
                <a:ea typeface="Arial" pitchFamily="34" charset="-122"/>
                <a:cs typeface="Arial" pitchFamily="34" charset="-120"/>
              </a:rPr>
              <a:t>An Empirical Evaluation of Retrieval, Reranking, and Similarity for a Q&amp;A-Based Retrieval Augmented Generation System</a:t>
            </a:r>
            <a:endParaRPr lang="en-US" sz="4400" dirty="0"/>
          </a:p>
        </p:txBody>
      </p:sp>
      <p:sp>
        <p:nvSpPr>
          <p:cNvPr id="4" name="Text 2"/>
          <p:cNvSpPr txBox="1"/>
          <p:nvPr/>
        </p:nvSpPr>
        <p:spPr>
          <a:xfrm>
            <a:off x="1028700" y="6446520"/>
            <a:ext cx="10058400" cy="2926080"/>
          </a:xfrm>
          <a:prstGeom prst="rect">
            <a:avLst/>
          </a:prstGeom>
          <a:noFill/>
          <a:ln/>
        </p:spPr>
        <p:txBody>
          <a:bodyPr wrap="square" lIns="0" tIns="0" rIns="0" bIns="0" rtlCol="0" anchor="t"/>
          <a:lstStyle/>
          <a:p>
            <a:pPr indent="0" marL="0">
              <a:spcAft>
                <a:spcPts val="400"/>
              </a:spcAft>
              <a:buNone/>
            </a:pPr>
            <a:r>
              <a:rPr lang="en-US" sz="3000" dirty="0">
                <a:solidFill>
                  <a:schemeClr val="tx1"/>
                </a:solidFill>
                <a:latin typeface="Arial" pitchFamily="34" charset="0"/>
                <a:ea typeface="Arial" pitchFamily="34" charset="-122"/>
                <a:cs typeface="Arial" pitchFamily="34" charset="-120"/>
              </a:rPr>
              <a:t>GVHD: TS. Phạm Đỗ Kim Chi</a:t>
            </a:r>
            <a:endParaRPr lang="en-US" sz="3000" dirty="0"/>
          </a:p>
          <a:p>
            <a:pPr indent="0" marL="0">
              <a:spcAft>
                <a:spcPts val="400"/>
              </a:spcAft>
              <a:buNone/>
            </a:pPr>
            <a:r>
              <a:rPr lang="en-US" sz="3000" dirty="0">
                <a:solidFill>
                  <a:schemeClr val="tx1"/>
                </a:solidFill>
                <a:latin typeface="Arial" pitchFamily="34" charset="0"/>
                <a:ea typeface="Arial" pitchFamily="34" charset="-122"/>
                <a:cs typeface="Arial" pitchFamily="34" charset="-120"/>
              </a:rPr>
              <a:t>Nhóm 1 - HVTH:</a:t>
            </a:r>
            <a:endParaRPr lang="en-US" sz="3000" dirty="0"/>
          </a:p>
          <a:p>
            <a:pPr indent="0" marL="0">
              <a:spcAft>
                <a:spcPts val="400"/>
              </a:spcAft>
              <a:buNone/>
            </a:pPr>
            <a:r>
              <a:rPr lang="en-US" sz="3000" dirty="0">
                <a:solidFill>
                  <a:schemeClr val="tx1"/>
                </a:solidFill>
                <a:latin typeface="Arial" pitchFamily="34" charset="0"/>
                <a:ea typeface="Arial" pitchFamily="34" charset="-122"/>
                <a:cs typeface="Arial" pitchFamily="34" charset="-120"/>
              </a:rPr>
              <a:t>250104053 - Châu Ngọc Hoa Thy</a:t>
            </a:r>
            <a:endParaRPr lang="en-US" sz="3000" dirty="0"/>
          </a:p>
          <a:p>
            <a:pPr indent="0" marL="0">
              <a:spcAft>
                <a:spcPts val="400"/>
              </a:spcAft>
              <a:buNone/>
            </a:pPr>
            <a:r>
              <a:rPr lang="en-US" sz="3000" dirty="0">
                <a:solidFill>
                  <a:schemeClr val="tx1"/>
                </a:solidFill>
                <a:latin typeface="Arial" pitchFamily="34" charset="0"/>
                <a:ea typeface="Arial" pitchFamily="34" charset="-122"/>
                <a:cs typeface="Arial" pitchFamily="34" charset="-120"/>
              </a:rPr>
              <a:t>250201041 - Lê Thành Duy Ân</a:t>
            </a:r>
            <a:endParaRPr lang="en-US" sz="3000" dirty="0"/>
          </a:p>
          <a:p>
            <a:pPr indent="0" marL="0">
              <a:spcAft>
                <a:spcPts val="400"/>
              </a:spcAft>
              <a:buNone/>
            </a:pPr>
            <a:r>
              <a:rPr lang="en-US" sz="3000" dirty="0">
                <a:solidFill>
                  <a:schemeClr val="tx1"/>
                </a:solidFill>
                <a:latin typeface="Arial" pitchFamily="34" charset="0"/>
                <a:ea typeface="Arial" pitchFamily="34" charset="-122"/>
                <a:cs typeface="Arial" pitchFamily="34" charset="-120"/>
              </a:rPr>
              <a:t>250104034 - Triệu Thị Thùy Dung</a:t>
            </a:r>
            <a:endParaRPr lang="en-US" sz="3000" dirty="0"/>
          </a:p>
          <a:p>
            <a:pPr indent="0" marL="0">
              <a:spcAft>
                <a:spcPts val="400"/>
              </a:spcAft>
              <a:buNone/>
            </a:pPr>
            <a:r>
              <a:rPr lang="en-US" sz="3000" dirty="0">
                <a:solidFill>
                  <a:schemeClr val="tx1"/>
                </a:solidFill>
                <a:latin typeface="Arial" pitchFamily="34" charset="0"/>
                <a:ea typeface="Arial" pitchFamily="34" charset="-122"/>
                <a:cs typeface="Arial" pitchFamily="34" charset="-120"/>
              </a:rPr>
              <a:t>250104033 - Trịnh Huỳnh Đăng</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Mục lục</a:t>
            </a:r>
            <a:endParaRPr lang="en-US" sz="5000" dirty="0"/>
          </a:p>
        </p:txBody>
      </p:sp>
      <p:sp>
        <p:nvSpPr>
          <p:cNvPr id="3" name="Shape 1"/>
          <p:cNvSpPr/>
          <p:nvPr/>
        </p:nvSpPr>
        <p:spPr>
          <a:xfrm>
            <a:off x="914400" y="1920240"/>
            <a:ext cx="16459200" cy="1325880"/>
          </a:xfrm>
          <a:prstGeom prst="roundRect">
            <a:avLst>
              <a:gd name="adj" fmla="val 8276"/>
            </a:avLst>
          </a:prstGeom>
          <a:solidFill>
            <a:schemeClr val="accent4"/>
          </a:solidFill>
          <a:ln/>
        </p:spPr>
      </p:sp>
      <p:sp>
        <p:nvSpPr>
          <p:cNvPr id="4" name="Text 2"/>
          <p:cNvSpPr/>
          <p:nvPr/>
        </p:nvSpPr>
        <p:spPr>
          <a:xfrm>
            <a:off x="1188720" y="2103120"/>
            <a:ext cx="960120" cy="960120"/>
          </a:xfrm>
          <a:prstGeom prst="ellipse">
            <a:avLst/>
          </a:prstGeom>
          <a:solidFill>
            <a:schemeClr val="accent1"/>
          </a:solidFill>
          <a:ln/>
        </p:spPr>
        <p:txBody>
          <a:bodyPr wrap="square" lIns="0" tIns="0" rIns="0" bIns="0" rtlCol="0" anchor="ctr"/>
          <a:lstStyle/>
          <a:p>
            <a:pPr algn="ctr" indent="0" marL="0">
              <a:buNone/>
            </a:pPr>
            <a:r>
              <a:rPr lang="en-US" sz="3400" b="1" dirty="0">
                <a:solidFill>
                  <a:schemeClr val="bg1"/>
                </a:solidFill>
              </a:rPr>
              <a:t>1</a:t>
            </a:r>
            <a:endParaRPr lang="en-US" sz="3400" dirty="0"/>
          </a:p>
        </p:txBody>
      </p:sp>
      <p:sp>
        <p:nvSpPr>
          <p:cNvPr id="5" name="Text 3"/>
          <p:cNvSpPr txBox="1"/>
          <p:nvPr/>
        </p:nvSpPr>
        <p:spPr>
          <a:xfrm>
            <a:off x="2651760" y="1920240"/>
            <a:ext cx="14173200" cy="1325880"/>
          </a:xfrm>
          <a:prstGeom prst="rect">
            <a:avLst/>
          </a:prstGeom>
          <a:noFill/>
          <a:ln/>
        </p:spPr>
        <p:txBody>
          <a:bodyPr wrap="square" lIns="0" tIns="0" rIns="0" bIns="0" rtlCol="0" anchor="ctr"/>
          <a:lstStyle/>
          <a:p>
            <a:pPr indent="0" marL="0">
              <a:buNone/>
            </a:pPr>
            <a:r>
              <a:rPr lang="en-US" sz="4300" b="1" dirty="0">
                <a:solidFill>
                  <a:schemeClr val="tx1"/>
                </a:solidFill>
              </a:rPr>
              <a:t>Bài toán</a:t>
            </a:r>
            <a:endParaRPr lang="en-US" sz="3400" dirty="0"/>
          </a:p>
          <a:p>
            <a:pPr indent="0" marL="0">
              <a:buNone/>
            </a:pPr>
            <a:r>
              <a:rPr lang="en-US" sz="2900" dirty="0">
                <a:solidFill>
                  <a:schemeClr val="accent3"/>
                </a:solidFill>
              </a:rPr>
              <a:t>Bối cảnh, khoảng trống nghiên cứu, mục tiêu</a:t>
            </a:r>
            <a:endParaRPr lang="en-US" sz="3400" dirty="0"/>
          </a:p>
        </p:txBody>
      </p:sp>
      <p:sp>
        <p:nvSpPr>
          <p:cNvPr id="6" name="Shape 4"/>
          <p:cNvSpPr/>
          <p:nvPr/>
        </p:nvSpPr>
        <p:spPr>
          <a:xfrm>
            <a:off x="914400" y="3474720"/>
            <a:ext cx="16459200" cy="1325880"/>
          </a:xfrm>
          <a:prstGeom prst="roundRect">
            <a:avLst>
              <a:gd name="adj" fmla="val 8276"/>
            </a:avLst>
          </a:prstGeom>
          <a:solidFill>
            <a:schemeClr val="accent4"/>
          </a:solidFill>
          <a:ln/>
        </p:spPr>
      </p:sp>
      <p:sp>
        <p:nvSpPr>
          <p:cNvPr id="7" name="Text 5"/>
          <p:cNvSpPr/>
          <p:nvPr/>
        </p:nvSpPr>
        <p:spPr>
          <a:xfrm>
            <a:off x="1188720" y="3657600"/>
            <a:ext cx="960120" cy="960120"/>
          </a:xfrm>
          <a:prstGeom prst="ellipse">
            <a:avLst/>
          </a:prstGeom>
          <a:solidFill>
            <a:schemeClr val="accent1"/>
          </a:solidFill>
          <a:ln/>
        </p:spPr>
        <p:txBody>
          <a:bodyPr wrap="square" lIns="0" tIns="0" rIns="0" bIns="0" rtlCol="0" anchor="ctr"/>
          <a:lstStyle/>
          <a:p>
            <a:pPr algn="ctr" indent="0" marL="0">
              <a:buNone/>
            </a:pPr>
            <a:r>
              <a:rPr lang="en-US" sz="3400" b="1" dirty="0">
                <a:solidFill>
                  <a:schemeClr val="bg1"/>
                </a:solidFill>
              </a:rPr>
              <a:t>2</a:t>
            </a:r>
            <a:endParaRPr lang="en-US" sz="3400" dirty="0"/>
          </a:p>
        </p:txBody>
      </p:sp>
      <p:sp>
        <p:nvSpPr>
          <p:cNvPr id="8" name="Text 6"/>
          <p:cNvSpPr txBox="1"/>
          <p:nvPr/>
        </p:nvSpPr>
        <p:spPr>
          <a:xfrm>
            <a:off x="2651760" y="3474720"/>
            <a:ext cx="14173200" cy="1325880"/>
          </a:xfrm>
          <a:prstGeom prst="rect">
            <a:avLst/>
          </a:prstGeom>
          <a:noFill/>
          <a:ln/>
        </p:spPr>
        <p:txBody>
          <a:bodyPr wrap="square" lIns="0" tIns="0" rIns="0" bIns="0" rtlCol="0" anchor="ctr"/>
          <a:lstStyle/>
          <a:p>
            <a:pPr indent="0" marL="0">
              <a:buNone/>
            </a:pPr>
            <a:r>
              <a:rPr lang="en-US" sz="4300" b="1" dirty="0">
                <a:solidFill>
                  <a:schemeClr val="tx1"/>
                </a:solidFill>
              </a:rPr>
              <a:t>Ý tưởng cốt lõi và phương pháp đề xuất</a:t>
            </a:r>
            <a:endParaRPr lang="en-US" sz="3400" dirty="0"/>
          </a:p>
          <a:p>
            <a:pPr indent="0" marL="0">
              <a:buNone/>
            </a:pPr>
            <a:r>
              <a:rPr lang="en-US" sz="2900" dirty="0">
                <a:solidFill>
                  <a:schemeClr val="accent3"/>
                </a:solidFill>
              </a:rPr>
              <a:t>Pipeline RAG cấu hình được</a:t>
            </a:r>
            <a:endParaRPr lang="en-US" sz="3400" dirty="0"/>
          </a:p>
        </p:txBody>
      </p:sp>
      <p:sp>
        <p:nvSpPr>
          <p:cNvPr id="9" name="Shape 7"/>
          <p:cNvSpPr/>
          <p:nvPr/>
        </p:nvSpPr>
        <p:spPr>
          <a:xfrm>
            <a:off x="914400" y="5029200"/>
            <a:ext cx="16459200" cy="1325880"/>
          </a:xfrm>
          <a:prstGeom prst="roundRect">
            <a:avLst>
              <a:gd name="adj" fmla="val 8276"/>
            </a:avLst>
          </a:prstGeom>
          <a:solidFill>
            <a:schemeClr val="accent4"/>
          </a:solidFill>
          <a:ln/>
        </p:spPr>
      </p:sp>
      <p:sp>
        <p:nvSpPr>
          <p:cNvPr id="10" name="Text 8"/>
          <p:cNvSpPr/>
          <p:nvPr/>
        </p:nvSpPr>
        <p:spPr>
          <a:xfrm>
            <a:off x="1188720" y="5212080"/>
            <a:ext cx="960120" cy="960120"/>
          </a:xfrm>
          <a:prstGeom prst="ellipse">
            <a:avLst/>
          </a:prstGeom>
          <a:solidFill>
            <a:schemeClr val="accent1"/>
          </a:solidFill>
          <a:ln/>
        </p:spPr>
        <p:txBody>
          <a:bodyPr wrap="square" lIns="0" tIns="0" rIns="0" bIns="0" rtlCol="0" anchor="ctr"/>
          <a:lstStyle/>
          <a:p>
            <a:pPr algn="ctr" indent="0" marL="0">
              <a:buNone/>
            </a:pPr>
            <a:r>
              <a:rPr lang="en-US" sz="3400" b="1" dirty="0">
                <a:solidFill>
                  <a:schemeClr val="bg1"/>
                </a:solidFill>
              </a:rPr>
              <a:t>3</a:t>
            </a:r>
            <a:endParaRPr lang="en-US" sz="3400" dirty="0"/>
          </a:p>
        </p:txBody>
      </p:sp>
      <p:sp>
        <p:nvSpPr>
          <p:cNvPr id="11" name="Text 9"/>
          <p:cNvSpPr txBox="1"/>
          <p:nvPr/>
        </p:nvSpPr>
        <p:spPr>
          <a:xfrm>
            <a:off x="2651760" y="5029200"/>
            <a:ext cx="14173200" cy="1325880"/>
          </a:xfrm>
          <a:prstGeom prst="rect">
            <a:avLst/>
          </a:prstGeom>
          <a:noFill/>
          <a:ln/>
        </p:spPr>
        <p:txBody>
          <a:bodyPr wrap="square" lIns="0" tIns="0" rIns="0" bIns="0" rtlCol="0" anchor="ctr"/>
          <a:lstStyle/>
          <a:p>
            <a:pPr indent="0" marL="0">
              <a:buNone/>
            </a:pPr>
            <a:r>
              <a:rPr lang="en-US" sz="4300" b="1" dirty="0">
                <a:solidFill>
                  <a:schemeClr val="tx1"/>
                </a:solidFill>
              </a:rPr>
              <a:t>Thiết kế thực nghiệm</a:t>
            </a:r>
            <a:endParaRPr lang="en-US" sz="3400" dirty="0"/>
          </a:p>
          <a:p>
            <a:pPr indent="0" marL="0">
              <a:buNone/>
            </a:pPr>
            <a:r>
              <a:rPr lang="en-US" sz="2900" dirty="0">
                <a:solidFill>
                  <a:schemeClr val="accent3"/>
                </a:solidFill>
              </a:rPr>
              <a:t>Dataset, thiết lập, công cụ thống kê, độ đo</a:t>
            </a:r>
            <a:endParaRPr lang="en-US" sz="3400" dirty="0"/>
          </a:p>
        </p:txBody>
      </p:sp>
      <p:sp>
        <p:nvSpPr>
          <p:cNvPr id="12" name="Shape 10"/>
          <p:cNvSpPr/>
          <p:nvPr/>
        </p:nvSpPr>
        <p:spPr>
          <a:xfrm>
            <a:off x="914400" y="6583680"/>
            <a:ext cx="16459200" cy="1325880"/>
          </a:xfrm>
          <a:prstGeom prst="roundRect">
            <a:avLst>
              <a:gd name="adj" fmla="val 8276"/>
            </a:avLst>
          </a:prstGeom>
          <a:solidFill>
            <a:schemeClr val="accent4"/>
          </a:solidFill>
          <a:ln/>
        </p:spPr>
      </p:sp>
      <p:sp>
        <p:nvSpPr>
          <p:cNvPr id="13" name="Text 11"/>
          <p:cNvSpPr/>
          <p:nvPr/>
        </p:nvSpPr>
        <p:spPr>
          <a:xfrm>
            <a:off x="1188720" y="6766560"/>
            <a:ext cx="960120" cy="960120"/>
          </a:xfrm>
          <a:prstGeom prst="ellipse">
            <a:avLst/>
          </a:prstGeom>
          <a:solidFill>
            <a:schemeClr val="accent1"/>
          </a:solidFill>
          <a:ln/>
        </p:spPr>
        <p:txBody>
          <a:bodyPr wrap="square" lIns="0" tIns="0" rIns="0" bIns="0" rtlCol="0" anchor="ctr"/>
          <a:lstStyle/>
          <a:p>
            <a:pPr algn="ctr" indent="0" marL="0">
              <a:buNone/>
            </a:pPr>
            <a:r>
              <a:rPr lang="en-US" sz="3400" b="1" dirty="0">
                <a:solidFill>
                  <a:schemeClr val="bg1"/>
                </a:solidFill>
              </a:rPr>
              <a:t>4</a:t>
            </a:r>
            <a:endParaRPr lang="en-US" sz="3400" dirty="0"/>
          </a:p>
        </p:txBody>
      </p:sp>
      <p:sp>
        <p:nvSpPr>
          <p:cNvPr id="14" name="Text 12"/>
          <p:cNvSpPr txBox="1"/>
          <p:nvPr/>
        </p:nvSpPr>
        <p:spPr>
          <a:xfrm>
            <a:off x="2651760" y="6583680"/>
            <a:ext cx="14173200" cy="1325880"/>
          </a:xfrm>
          <a:prstGeom prst="rect">
            <a:avLst/>
          </a:prstGeom>
          <a:noFill/>
          <a:ln/>
        </p:spPr>
        <p:txBody>
          <a:bodyPr wrap="square" lIns="0" tIns="0" rIns="0" bIns="0" rtlCol="0" anchor="ctr"/>
          <a:lstStyle/>
          <a:p>
            <a:pPr indent="0" marL="0">
              <a:buNone/>
            </a:pPr>
            <a:r>
              <a:rPr lang="en-US" sz="4300" b="1" dirty="0">
                <a:solidFill>
                  <a:schemeClr val="tx1"/>
                </a:solidFill>
              </a:rPr>
              <a:t>Kết quả và nhận xét đánh giá</a:t>
            </a:r>
            <a:endParaRPr lang="en-US" sz="3400" dirty="0"/>
          </a:p>
          <a:p>
            <a:pPr indent="0" marL="0">
              <a:buNone/>
            </a:pPr>
            <a:r>
              <a:rPr lang="en-US" sz="2900" dirty="0">
                <a:solidFill>
                  <a:schemeClr val="accent3"/>
                </a:solidFill>
              </a:rPr>
              <a:t>Kết quả, đánh giá của tác giả và của nhóm</a:t>
            </a:r>
            <a:endParaRPr lang="en-US" sz="3400" dirty="0"/>
          </a:p>
        </p:txBody>
      </p:sp>
      <p:sp>
        <p:nvSpPr>
          <p:cNvPr id="15" name="Shape 13"/>
          <p:cNvSpPr/>
          <p:nvPr/>
        </p:nvSpPr>
        <p:spPr>
          <a:xfrm>
            <a:off x="914400" y="8138160"/>
            <a:ext cx="16459200" cy="1325880"/>
          </a:xfrm>
          <a:prstGeom prst="roundRect">
            <a:avLst>
              <a:gd name="adj" fmla="val 8276"/>
            </a:avLst>
          </a:prstGeom>
          <a:solidFill>
            <a:schemeClr val="accent4"/>
          </a:solidFill>
          <a:ln/>
        </p:spPr>
      </p:sp>
      <p:sp>
        <p:nvSpPr>
          <p:cNvPr id="16" name="Text 14"/>
          <p:cNvSpPr/>
          <p:nvPr/>
        </p:nvSpPr>
        <p:spPr>
          <a:xfrm>
            <a:off x="1188720" y="8321040"/>
            <a:ext cx="960120" cy="960120"/>
          </a:xfrm>
          <a:prstGeom prst="ellipse">
            <a:avLst/>
          </a:prstGeom>
          <a:solidFill>
            <a:schemeClr val="accent1"/>
          </a:solidFill>
          <a:ln/>
        </p:spPr>
        <p:txBody>
          <a:bodyPr wrap="square" lIns="0" tIns="0" rIns="0" bIns="0" rtlCol="0" anchor="ctr"/>
          <a:lstStyle/>
          <a:p>
            <a:pPr algn="ctr" indent="0" marL="0">
              <a:buNone/>
            </a:pPr>
            <a:r>
              <a:rPr lang="en-US" sz="3400" b="1" dirty="0">
                <a:solidFill>
                  <a:schemeClr val="bg1"/>
                </a:solidFill>
              </a:rPr>
              <a:t>5</a:t>
            </a:r>
            <a:endParaRPr lang="en-US" sz="3400" dirty="0"/>
          </a:p>
        </p:txBody>
      </p:sp>
      <p:sp>
        <p:nvSpPr>
          <p:cNvPr id="17" name="Text 15"/>
          <p:cNvSpPr txBox="1"/>
          <p:nvPr/>
        </p:nvSpPr>
        <p:spPr>
          <a:xfrm>
            <a:off x="2651760" y="8138160"/>
            <a:ext cx="14173200" cy="1325880"/>
          </a:xfrm>
          <a:prstGeom prst="rect">
            <a:avLst/>
          </a:prstGeom>
          <a:noFill/>
          <a:ln/>
        </p:spPr>
        <p:txBody>
          <a:bodyPr wrap="square" lIns="0" tIns="0" rIns="0" bIns="0" rtlCol="0" anchor="ctr"/>
          <a:lstStyle/>
          <a:p>
            <a:pPr indent="0" marL="0">
              <a:buNone/>
            </a:pPr>
            <a:r>
              <a:rPr lang="en-US" sz="4300" b="1" dirty="0">
                <a:solidFill>
                  <a:schemeClr val="tx1"/>
                </a:solidFill>
              </a:rPr>
              <a:t>Tài liệu tham khảo</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1. Bài toán: bối cảnh</a:t>
            </a:r>
            <a:endParaRPr lang="en-US" sz="5000" dirty="0"/>
          </a:p>
        </p:txBody>
      </p:sp>
      <p:sp>
        <p:nvSpPr>
          <p:cNvPr id="3" name="Shape 1"/>
          <p:cNvSpPr/>
          <p:nvPr/>
        </p:nvSpPr>
        <p:spPr>
          <a:xfrm>
            <a:off x="914400" y="1920240"/>
            <a:ext cx="16459200" cy="2103120"/>
          </a:xfrm>
          <a:prstGeom prst="roundRect">
            <a:avLst>
              <a:gd name="adj" fmla="val 5217"/>
            </a:avLst>
          </a:prstGeom>
          <a:solidFill>
            <a:schemeClr val="accent2"/>
          </a:solidFill>
          <a:ln/>
        </p:spPr>
      </p:sp>
      <p:sp>
        <p:nvSpPr>
          <p:cNvPr id="4" name="Text 2"/>
          <p:cNvSpPr txBox="1"/>
          <p:nvPr/>
        </p:nvSpPr>
        <p:spPr>
          <a:xfrm>
            <a:off x="1325880" y="1920240"/>
            <a:ext cx="15636240" cy="2103120"/>
          </a:xfrm>
          <a:prstGeom prst="rect">
            <a:avLst/>
          </a:prstGeom>
          <a:noFill/>
          <a:ln/>
        </p:spPr>
        <p:txBody>
          <a:bodyPr wrap="square" lIns="0" tIns="0" rIns="0" bIns="0" rtlCol="0" anchor="ctr"/>
          <a:lstStyle/>
          <a:p>
            <a:pPr indent="0" marL="0">
              <a:buNone/>
            </a:pPr>
            <a:r>
              <a:rPr lang="en-US" sz="3400" b="1" dirty="0">
                <a:solidFill>
                  <a:schemeClr val="accent1"/>
                </a:solidFill>
              </a:rPr>
              <a:t>Vấn đề: </a:t>
            </a:r>
            <a:pPr indent="0" marL="0">
              <a:buNone/>
            </a:pPr>
            <a:r>
              <a:rPr lang="en-US" sz="3400" dirty="0">
                <a:solidFill>
                  <a:schemeClr val="tx1"/>
                </a:solidFill>
              </a:rPr>
              <a:t>LLM mạnh về sinh dữ liệu, trả lời câu hỏi phức tạp và truy hồi thông tin, nhưng khó xử lý ngữ cảnh dài. Mô hình dễ phụ thuộc tri thức tiền huấn luyện thay vì ngữ cảnh của tác vụ, dẫn đến sinh thông tin sai lệch.</a:t>
            </a:r>
            <a:endParaRPr lang="en-US" sz="3400" dirty="0"/>
          </a:p>
        </p:txBody>
      </p:sp>
      <p:sp>
        <p:nvSpPr>
          <p:cNvPr id="5" name="Shape 3"/>
          <p:cNvSpPr/>
          <p:nvPr/>
        </p:nvSpPr>
        <p:spPr>
          <a:xfrm>
            <a:off x="914400" y="4389120"/>
            <a:ext cx="8046720" cy="4937760"/>
          </a:xfrm>
          <a:prstGeom prst="roundRect">
            <a:avLst>
              <a:gd name="adj" fmla="val 2222"/>
            </a:avLst>
          </a:prstGeom>
          <a:solidFill>
            <a:schemeClr val="accent4"/>
          </a:solidFill>
          <a:ln/>
        </p:spPr>
      </p:sp>
      <p:sp>
        <p:nvSpPr>
          <p:cNvPr id="6" name="Text 4"/>
          <p:cNvSpPr txBox="1"/>
          <p:nvPr/>
        </p:nvSpPr>
        <p:spPr>
          <a:xfrm>
            <a:off x="1325880" y="4709160"/>
            <a:ext cx="7223760" cy="640080"/>
          </a:xfrm>
          <a:prstGeom prst="rect">
            <a:avLst/>
          </a:prstGeom>
          <a:noFill/>
          <a:ln/>
        </p:spPr>
        <p:txBody>
          <a:bodyPr wrap="square" lIns="0" tIns="0" rIns="0" bIns="0" rtlCol="0" anchor="t"/>
          <a:lstStyle/>
          <a:p>
            <a:pPr indent="0" marL="0">
              <a:buNone/>
            </a:pPr>
            <a:r>
              <a:rPr lang="en-US" sz="3800" b="1" dirty="0">
                <a:solidFill>
                  <a:schemeClr val="accent3"/>
                </a:solidFill>
              </a:rPr>
              <a:t>Mở rộng cửa sổ ngữ cảnh</a:t>
            </a:r>
            <a:endParaRPr lang="en-US" sz="3800" dirty="0"/>
          </a:p>
        </p:txBody>
      </p:sp>
      <p:sp>
        <p:nvSpPr>
          <p:cNvPr id="7" name="Text 5"/>
          <p:cNvSpPr txBox="1"/>
          <p:nvPr/>
        </p:nvSpPr>
        <p:spPr>
          <a:xfrm>
            <a:off x="1325880" y="5669280"/>
            <a:ext cx="7223760" cy="3291840"/>
          </a:xfrm>
          <a:prstGeom prst="rect">
            <a:avLst/>
          </a:prstGeom>
          <a:noFill/>
          <a:ln/>
        </p:spPr>
        <p:txBody>
          <a:bodyPr wrap="square" lIns="0" tIns="0" rIns="0" bIns="0" rtlCol="0" anchor="t"/>
          <a:lstStyle/>
          <a:p>
            <a:pPr marL="330200" indent="-330200">
              <a:spcAft>
                <a:spcPts val="1200"/>
              </a:spcAft>
              <a:buSzPct val="100000"/>
              <a:buChar char="•"/>
            </a:pPr>
            <a:r>
              <a:rPr lang="en-US" sz="3400" dirty="0">
                <a:solidFill>
                  <a:schemeClr val="tx1"/>
                </a:solidFill>
              </a:rPr>
              <a:t>Bị hạn chế về chi phí</a:t>
            </a:r>
            <a:endParaRPr lang="en-US" sz="3400" dirty="0"/>
          </a:p>
          <a:p>
            <a:pPr marL="330200" indent="-330200">
              <a:spcAft>
                <a:spcPts val="1200"/>
              </a:spcAft>
              <a:buSzPct val="100000"/>
              <a:buChar char="•"/>
            </a:pPr>
            <a:r>
              <a:rPr lang="en-US" sz="3400" dirty="0">
                <a:solidFill>
                  <a:schemeClr val="tx1"/>
                </a:solidFill>
              </a:rPr>
              <a:t>Dễ làm mô hình sinh câu trả lời sai</a:t>
            </a:r>
            <a:endParaRPr lang="en-US" sz="3400" dirty="0"/>
          </a:p>
        </p:txBody>
      </p:sp>
      <p:sp>
        <p:nvSpPr>
          <p:cNvPr id="8" name="Shape 6"/>
          <p:cNvSpPr/>
          <p:nvPr/>
        </p:nvSpPr>
        <p:spPr>
          <a:xfrm>
            <a:off x="9326880" y="4389120"/>
            <a:ext cx="8046720" cy="4937760"/>
          </a:xfrm>
          <a:prstGeom prst="roundRect">
            <a:avLst>
              <a:gd name="adj" fmla="val 2222"/>
            </a:avLst>
          </a:prstGeom>
          <a:solidFill>
            <a:schemeClr val="accent1"/>
          </a:solidFill>
          <a:ln/>
        </p:spPr>
      </p:sp>
      <p:sp>
        <p:nvSpPr>
          <p:cNvPr id="9" name="Text 7"/>
          <p:cNvSpPr txBox="1"/>
          <p:nvPr/>
        </p:nvSpPr>
        <p:spPr>
          <a:xfrm>
            <a:off x="9738360" y="4709160"/>
            <a:ext cx="7223760" cy="640080"/>
          </a:xfrm>
          <a:prstGeom prst="rect">
            <a:avLst/>
          </a:prstGeom>
          <a:noFill/>
          <a:ln/>
        </p:spPr>
        <p:txBody>
          <a:bodyPr wrap="square" lIns="0" tIns="0" rIns="0" bIns="0" rtlCol="0" anchor="t"/>
          <a:lstStyle/>
          <a:p>
            <a:pPr indent="0" marL="0">
              <a:buNone/>
            </a:pPr>
            <a:r>
              <a:rPr lang="en-US" sz="3800" b="1" dirty="0">
                <a:solidFill>
                  <a:schemeClr val="bg1"/>
                </a:solidFill>
              </a:rPr>
              <a:t>RAG (hướng được chọn)</a:t>
            </a:r>
            <a:endParaRPr lang="en-US" sz="3800" dirty="0"/>
          </a:p>
        </p:txBody>
      </p:sp>
      <p:sp>
        <p:nvSpPr>
          <p:cNvPr id="10" name="Text 8"/>
          <p:cNvSpPr txBox="1"/>
          <p:nvPr/>
        </p:nvSpPr>
        <p:spPr>
          <a:xfrm>
            <a:off x="9738360" y="5669280"/>
            <a:ext cx="7223760" cy="3474720"/>
          </a:xfrm>
          <a:prstGeom prst="rect">
            <a:avLst/>
          </a:prstGeom>
          <a:noFill/>
          <a:ln/>
        </p:spPr>
        <p:txBody>
          <a:bodyPr wrap="square" lIns="0" tIns="0" rIns="0" bIns="0" rtlCol="0" anchor="t"/>
          <a:lstStyle/>
          <a:p>
            <a:pPr marL="330200" indent="-330200">
              <a:spcAft>
                <a:spcPts val="1200"/>
              </a:spcAft>
              <a:buSzPct val="100000"/>
              <a:buChar char="•"/>
            </a:pPr>
            <a:r>
              <a:rPr lang="en-US" sz="3400" dirty="0">
                <a:solidFill>
                  <a:schemeClr val="bg1"/>
                </a:solidFill>
              </a:rPr>
              <a:t>Chỉ truy hồi phần liên quan, hiệu quả hơn với thông tin phân mảnh</a:t>
            </a:r>
            <a:endParaRPr lang="en-US" sz="3400" dirty="0"/>
          </a:p>
          <a:p>
            <a:pPr marL="330200" indent="-330200">
              <a:spcAft>
                <a:spcPts val="1200"/>
              </a:spcAft>
              <a:buSzPct val="100000"/>
              <a:buChar char="•"/>
            </a:pPr>
            <a:r>
              <a:rPr lang="en-US" sz="3400" dirty="0">
                <a:solidFill>
                  <a:schemeClr val="bg1"/>
                </a:solidFill>
              </a:rPr>
              <a:t>Cập nhật được thông tin gần nhất</a:t>
            </a:r>
            <a:endParaRPr lang="en-US" sz="3400" dirty="0"/>
          </a:p>
          <a:p>
            <a:pPr marL="330200" indent="-330200">
              <a:spcAft>
                <a:spcPts val="1200"/>
              </a:spcAft>
              <a:buSzPct val="100000"/>
              <a:buChar char="•"/>
            </a:pPr>
            <a:r>
              <a:rPr lang="en-US" sz="3400" dirty="0">
                <a:solidFill>
                  <a:schemeClr val="bg1"/>
                </a:solidFill>
              </a:rPr>
              <a:t>Có khả năng trích dẫn nguồn tài liệu</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1. Bài toán: khoảng trống và mục tiêu</a:t>
            </a:r>
            <a:endParaRPr lang="en-US" sz="5000" dirty="0"/>
          </a:p>
        </p:txBody>
      </p:sp>
      <p:sp>
        <p:nvSpPr>
          <p:cNvPr id="3" name="Text 1"/>
          <p:cNvSpPr txBox="1"/>
          <p:nvPr/>
        </p:nvSpPr>
        <p:spPr>
          <a:xfrm>
            <a:off x="914400" y="1828800"/>
            <a:ext cx="16459200" cy="548640"/>
          </a:xfrm>
          <a:prstGeom prst="rect">
            <a:avLst/>
          </a:prstGeom>
          <a:noFill/>
          <a:ln/>
        </p:spPr>
        <p:txBody>
          <a:bodyPr wrap="square" lIns="0" tIns="0" rIns="0" bIns="0" rtlCol="0" anchor="t"/>
          <a:lstStyle/>
          <a:p>
            <a:pPr indent="0" marL="0">
              <a:buNone/>
            </a:pPr>
            <a:r>
              <a:rPr lang="en-US" sz="3600" b="1" dirty="0">
                <a:solidFill>
                  <a:schemeClr val="accent1"/>
                </a:solidFill>
              </a:rPr>
              <a:t>Hiệu quả của pipeline RAG phụ thuộc vào bốn thành phần</a:t>
            </a:r>
            <a:endParaRPr lang="en-US" sz="3600" dirty="0"/>
          </a:p>
        </p:txBody>
      </p:sp>
      <p:sp>
        <p:nvSpPr>
          <p:cNvPr id="4" name="Text 2"/>
          <p:cNvSpPr/>
          <p:nvPr/>
        </p:nvSpPr>
        <p:spPr>
          <a:xfrm>
            <a:off x="914400" y="2606040"/>
            <a:ext cx="3566160" cy="1234440"/>
          </a:xfrm>
          <a:prstGeom prst="roundRect">
            <a:avLst>
              <a:gd name="adj" fmla="val 8889"/>
            </a:avLst>
          </a:prstGeom>
          <a:solidFill>
            <a:schemeClr val="accent2"/>
          </a:solidFill>
          <a:ln/>
        </p:spPr>
        <p:txBody>
          <a:bodyPr wrap="square" lIns="177800" tIns="177800" rIns="177800" bIns="177800" rtlCol="0" anchor="ctr"/>
          <a:lstStyle/>
          <a:p>
            <a:pPr algn="ctr" indent="0" marL="0">
              <a:buNone/>
            </a:pPr>
            <a:r>
              <a:rPr lang="en-US" sz="3400" b="1" dirty="0">
                <a:solidFill>
                  <a:schemeClr val="accent1"/>
                </a:solidFill>
              </a:rPr>
              <a:t>Chiến lược lập chỉ mục</a:t>
            </a:r>
            <a:endParaRPr lang="en-US" sz="3400" dirty="0"/>
          </a:p>
        </p:txBody>
      </p:sp>
      <p:sp>
        <p:nvSpPr>
          <p:cNvPr id="5" name="Text 3"/>
          <p:cNvSpPr txBox="1"/>
          <p:nvPr/>
        </p:nvSpPr>
        <p:spPr>
          <a:xfrm>
            <a:off x="4480560" y="2606040"/>
            <a:ext cx="731520" cy="1234440"/>
          </a:xfrm>
          <a:prstGeom prst="rect">
            <a:avLst/>
          </a:prstGeom>
          <a:noFill/>
          <a:ln/>
        </p:spPr>
        <p:txBody>
          <a:bodyPr wrap="square" lIns="0" tIns="0" rIns="0" bIns="0" rtlCol="0" anchor="ctr"/>
          <a:lstStyle/>
          <a:p>
            <a:pPr algn="ctr" indent="0" marL="0">
              <a:buNone/>
            </a:pPr>
            <a:r>
              <a:rPr lang="en-US" sz="5300" b="1" dirty="0">
                <a:solidFill>
                  <a:schemeClr val="accent1"/>
                </a:solidFill>
              </a:rPr>
              <a:t>+</a:t>
            </a:r>
            <a:endParaRPr lang="en-US" sz="5300" dirty="0"/>
          </a:p>
        </p:txBody>
      </p:sp>
      <p:sp>
        <p:nvSpPr>
          <p:cNvPr id="6" name="Text 4"/>
          <p:cNvSpPr/>
          <p:nvPr/>
        </p:nvSpPr>
        <p:spPr>
          <a:xfrm>
            <a:off x="5212080" y="2606040"/>
            <a:ext cx="3566160" cy="1234440"/>
          </a:xfrm>
          <a:prstGeom prst="roundRect">
            <a:avLst>
              <a:gd name="adj" fmla="val 8889"/>
            </a:avLst>
          </a:prstGeom>
          <a:solidFill>
            <a:schemeClr val="accent2"/>
          </a:solidFill>
          <a:ln/>
        </p:spPr>
        <p:txBody>
          <a:bodyPr wrap="square" lIns="177800" tIns="177800" rIns="177800" bIns="177800" rtlCol="0" anchor="ctr"/>
          <a:lstStyle/>
          <a:p>
            <a:pPr algn="ctr" indent="0" marL="0">
              <a:buNone/>
            </a:pPr>
            <a:r>
              <a:rPr lang="en-US" sz="3400" b="1" dirty="0">
                <a:solidFill>
                  <a:schemeClr val="accent1"/>
                </a:solidFill>
              </a:rPr>
              <a:t>Phương pháp truy hồi</a:t>
            </a:r>
            <a:endParaRPr lang="en-US" sz="3400" dirty="0"/>
          </a:p>
        </p:txBody>
      </p:sp>
      <p:sp>
        <p:nvSpPr>
          <p:cNvPr id="7" name="Text 5"/>
          <p:cNvSpPr txBox="1"/>
          <p:nvPr/>
        </p:nvSpPr>
        <p:spPr>
          <a:xfrm>
            <a:off x="8778240" y="2606040"/>
            <a:ext cx="731520" cy="1234440"/>
          </a:xfrm>
          <a:prstGeom prst="rect">
            <a:avLst/>
          </a:prstGeom>
          <a:noFill/>
          <a:ln/>
        </p:spPr>
        <p:txBody>
          <a:bodyPr wrap="square" lIns="0" tIns="0" rIns="0" bIns="0" rtlCol="0" anchor="ctr"/>
          <a:lstStyle/>
          <a:p>
            <a:pPr algn="ctr" indent="0" marL="0">
              <a:buNone/>
            </a:pPr>
            <a:r>
              <a:rPr lang="en-US" sz="5300" b="1" dirty="0">
                <a:solidFill>
                  <a:schemeClr val="accent1"/>
                </a:solidFill>
              </a:rPr>
              <a:t>+</a:t>
            </a:r>
            <a:endParaRPr lang="en-US" sz="5300" dirty="0"/>
          </a:p>
        </p:txBody>
      </p:sp>
      <p:sp>
        <p:nvSpPr>
          <p:cNvPr id="8" name="Text 6"/>
          <p:cNvSpPr/>
          <p:nvPr/>
        </p:nvSpPr>
        <p:spPr>
          <a:xfrm>
            <a:off x="9509760" y="2606040"/>
            <a:ext cx="3566160" cy="1234440"/>
          </a:xfrm>
          <a:prstGeom prst="roundRect">
            <a:avLst>
              <a:gd name="adj" fmla="val 8889"/>
            </a:avLst>
          </a:prstGeom>
          <a:solidFill>
            <a:schemeClr val="accent2"/>
          </a:solidFill>
          <a:ln/>
        </p:spPr>
        <p:txBody>
          <a:bodyPr wrap="square" lIns="177800" tIns="177800" rIns="177800" bIns="177800" rtlCol="0" anchor="ctr"/>
          <a:lstStyle/>
          <a:p>
            <a:pPr algn="ctr" indent="0" marL="0">
              <a:buNone/>
            </a:pPr>
            <a:r>
              <a:rPr lang="en-US" sz="3400" b="1" dirty="0">
                <a:solidFill>
                  <a:schemeClr val="accent1"/>
                </a:solidFill>
              </a:rPr>
              <a:t>Độ đo tương đồng</a:t>
            </a:r>
            <a:endParaRPr lang="en-US" sz="3400" dirty="0"/>
          </a:p>
        </p:txBody>
      </p:sp>
      <p:sp>
        <p:nvSpPr>
          <p:cNvPr id="9" name="Text 7"/>
          <p:cNvSpPr txBox="1"/>
          <p:nvPr/>
        </p:nvSpPr>
        <p:spPr>
          <a:xfrm>
            <a:off x="13075920" y="2606040"/>
            <a:ext cx="731520" cy="1234440"/>
          </a:xfrm>
          <a:prstGeom prst="rect">
            <a:avLst/>
          </a:prstGeom>
          <a:noFill/>
          <a:ln/>
        </p:spPr>
        <p:txBody>
          <a:bodyPr wrap="square" lIns="0" tIns="0" rIns="0" bIns="0" rtlCol="0" anchor="ctr"/>
          <a:lstStyle/>
          <a:p>
            <a:pPr algn="ctr" indent="0" marL="0">
              <a:buNone/>
            </a:pPr>
            <a:r>
              <a:rPr lang="en-US" sz="5300" b="1" dirty="0">
                <a:solidFill>
                  <a:schemeClr val="accent1"/>
                </a:solidFill>
              </a:rPr>
              <a:t>+</a:t>
            </a:r>
            <a:endParaRPr lang="en-US" sz="5300" dirty="0"/>
          </a:p>
        </p:txBody>
      </p:sp>
      <p:sp>
        <p:nvSpPr>
          <p:cNvPr id="10" name="Text 8"/>
          <p:cNvSpPr/>
          <p:nvPr/>
        </p:nvSpPr>
        <p:spPr>
          <a:xfrm>
            <a:off x="13807440" y="2606040"/>
            <a:ext cx="3566160" cy="1234440"/>
          </a:xfrm>
          <a:prstGeom prst="roundRect">
            <a:avLst>
              <a:gd name="adj" fmla="val 8889"/>
            </a:avLst>
          </a:prstGeom>
          <a:solidFill>
            <a:schemeClr val="accent2"/>
          </a:solidFill>
          <a:ln/>
        </p:spPr>
        <p:txBody>
          <a:bodyPr wrap="square" lIns="177800" tIns="177800" rIns="177800" bIns="177800" rtlCol="0" anchor="ctr"/>
          <a:lstStyle/>
          <a:p>
            <a:pPr algn="ctr" indent="0" marL="0">
              <a:buNone/>
            </a:pPr>
            <a:r>
              <a:rPr lang="en-US" sz="3400" b="1" dirty="0">
                <a:solidFill>
                  <a:schemeClr val="accent1"/>
                </a:solidFill>
              </a:rPr>
              <a:t>Mô hình tái xếp hạng</a:t>
            </a:r>
            <a:endParaRPr lang="en-US" sz="3400" dirty="0"/>
          </a:p>
        </p:txBody>
      </p:sp>
      <p:sp>
        <p:nvSpPr>
          <p:cNvPr id="11" name="Shape 9"/>
          <p:cNvSpPr/>
          <p:nvPr/>
        </p:nvSpPr>
        <p:spPr>
          <a:xfrm>
            <a:off x="914400" y="4297680"/>
            <a:ext cx="8046720" cy="5029200"/>
          </a:xfrm>
          <a:prstGeom prst="roundRect">
            <a:avLst>
              <a:gd name="adj" fmla="val 2182"/>
            </a:avLst>
          </a:prstGeom>
          <a:solidFill>
            <a:schemeClr val="accent4"/>
          </a:solidFill>
          <a:ln/>
        </p:spPr>
      </p:sp>
      <p:sp>
        <p:nvSpPr>
          <p:cNvPr id="12" name="Text 10"/>
          <p:cNvSpPr txBox="1"/>
          <p:nvPr/>
        </p:nvSpPr>
        <p:spPr>
          <a:xfrm>
            <a:off x="1325880" y="4617720"/>
            <a:ext cx="7223760" cy="640080"/>
          </a:xfrm>
          <a:prstGeom prst="rect">
            <a:avLst/>
          </a:prstGeom>
          <a:noFill/>
          <a:ln/>
        </p:spPr>
        <p:txBody>
          <a:bodyPr wrap="square" lIns="0" tIns="0" rIns="0" bIns="0" rtlCol="0" anchor="t"/>
          <a:lstStyle/>
          <a:p>
            <a:pPr indent="0" marL="0">
              <a:buNone/>
            </a:pPr>
            <a:r>
              <a:rPr lang="en-US" sz="3800" b="1" dirty="0">
                <a:solidFill>
                  <a:schemeClr val="accent1"/>
                </a:solidFill>
              </a:rPr>
              <a:t>Khoảng trống nghiên cứu</a:t>
            </a:r>
            <a:endParaRPr lang="en-US" sz="3800" dirty="0"/>
          </a:p>
        </p:txBody>
      </p:sp>
      <p:sp>
        <p:nvSpPr>
          <p:cNvPr id="13" name="Text 11"/>
          <p:cNvSpPr txBox="1"/>
          <p:nvPr/>
        </p:nvSpPr>
        <p:spPr>
          <a:xfrm>
            <a:off x="1325880" y="5577840"/>
            <a:ext cx="7223760" cy="3566160"/>
          </a:xfrm>
          <a:prstGeom prst="rect">
            <a:avLst/>
          </a:prstGeom>
          <a:noFill/>
          <a:ln/>
        </p:spPr>
        <p:txBody>
          <a:bodyPr wrap="square" lIns="0" tIns="0" rIns="0" bIns="0" rtlCol="0" anchor="t"/>
          <a:lstStyle/>
          <a:p>
            <a:pPr marL="330200" indent="-330200">
              <a:spcAft>
                <a:spcPts val="1200"/>
              </a:spcAft>
              <a:buSzPct val="100000"/>
              <a:buChar char="•"/>
            </a:pPr>
            <a:r>
              <a:rPr lang="en-US" sz="3000" dirty="0">
                <a:solidFill>
                  <a:schemeClr val="tx1"/>
                </a:solidFill>
              </a:rPr>
              <a:t>Phần lớn chỉ cải tiến một thành phần đơn lẻ</a:t>
            </a:r>
            <a:endParaRPr lang="en-US" sz="3400" dirty="0"/>
          </a:p>
          <a:p>
            <a:pPr marL="330200" indent="-330200">
              <a:spcAft>
                <a:spcPts val="1200"/>
              </a:spcAft>
              <a:buSzPct val="100000"/>
              <a:buChar char="•"/>
            </a:pPr>
            <a:r>
              <a:rPr lang="en-US" sz="3000" dirty="0">
                <a:solidFill>
                  <a:schemeClr val="tx1"/>
                </a:solidFill>
              </a:rPr>
              <a:t>Hoặc đánh giá mô hình SOTA trên các benchmark</a:t>
            </a:r>
            <a:endParaRPr lang="en-US" sz="3400" dirty="0"/>
          </a:p>
          <a:p>
            <a:pPr marL="330200" indent="-330200">
              <a:spcAft>
                <a:spcPts val="1200"/>
              </a:spcAft>
              <a:buSzPct val="100000"/>
              <a:buChar char="•"/>
            </a:pPr>
            <a:r>
              <a:rPr lang="en-US" sz="3000" dirty="0">
                <a:solidFill>
                  <a:schemeClr val="tx1"/>
                </a:solidFill>
              </a:rPr>
              <a:t>Chưa rõ yếu tố nào chi phối hiệu năng khi các thành phần cùng tồn tại và tương tác</a:t>
            </a:r>
            <a:endParaRPr lang="en-US" sz="3400" dirty="0"/>
          </a:p>
        </p:txBody>
      </p:sp>
      <p:sp>
        <p:nvSpPr>
          <p:cNvPr id="14" name="Shape 12"/>
          <p:cNvSpPr/>
          <p:nvPr/>
        </p:nvSpPr>
        <p:spPr>
          <a:xfrm>
            <a:off x="9326880" y="4297680"/>
            <a:ext cx="8046720" cy="5029200"/>
          </a:xfrm>
          <a:prstGeom prst="roundRect">
            <a:avLst>
              <a:gd name="adj" fmla="val 2182"/>
            </a:avLst>
          </a:prstGeom>
          <a:solidFill>
            <a:schemeClr val="accent1"/>
          </a:solidFill>
          <a:ln/>
        </p:spPr>
      </p:sp>
      <p:sp>
        <p:nvSpPr>
          <p:cNvPr id="15" name="Text 13"/>
          <p:cNvSpPr txBox="1"/>
          <p:nvPr/>
        </p:nvSpPr>
        <p:spPr>
          <a:xfrm>
            <a:off x="9738360" y="4617720"/>
            <a:ext cx="7223760" cy="640080"/>
          </a:xfrm>
          <a:prstGeom prst="rect">
            <a:avLst/>
          </a:prstGeom>
          <a:noFill/>
          <a:ln/>
        </p:spPr>
        <p:txBody>
          <a:bodyPr wrap="square" lIns="0" tIns="0" rIns="0" bIns="0" rtlCol="0" anchor="t"/>
          <a:lstStyle/>
          <a:p>
            <a:pPr indent="0" marL="0">
              <a:buNone/>
            </a:pPr>
            <a:r>
              <a:rPr lang="en-US" sz="3800" b="1" dirty="0">
                <a:solidFill>
                  <a:schemeClr val="bg1"/>
                </a:solidFill>
              </a:rPr>
              <a:t>Mục tiêu của bài báo</a:t>
            </a:r>
            <a:endParaRPr lang="en-US" sz="3800" dirty="0"/>
          </a:p>
        </p:txBody>
      </p:sp>
      <p:sp>
        <p:nvSpPr>
          <p:cNvPr id="16" name="Text 14"/>
          <p:cNvSpPr txBox="1"/>
          <p:nvPr/>
        </p:nvSpPr>
        <p:spPr>
          <a:xfrm>
            <a:off x="9738360" y="5577840"/>
            <a:ext cx="7223760" cy="3566160"/>
          </a:xfrm>
          <a:prstGeom prst="rect">
            <a:avLst/>
          </a:prstGeom>
          <a:noFill/>
          <a:ln/>
        </p:spPr>
        <p:txBody>
          <a:bodyPr wrap="square" lIns="0" tIns="0" rIns="0" bIns="0" rtlCol="0" anchor="t"/>
          <a:lstStyle/>
          <a:p>
            <a:pPr marL="330200" indent="-330200">
              <a:spcAft>
                <a:spcPts val="1200"/>
              </a:spcAft>
              <a:buSzPct val="100000"/>
              <a:buChar char="•"/>
            </a:pPr>
            <a:r>
              <a:rPr lang="en-US" sz="3000" dirty="0">
                <a:solidFill>
                  <a:schemeClr val="bg1"/>
                </a:solidFill>
              </a:rPr>
              <a:t>Đánh giá thực nghiệm có hệ thống mức đóng góp của từng thành phần đến hiệu năng tổng thể của pipeline RAG</a:t>
            </a:r>
            <a:endParaRPr lang="en-US" sz="3400" dirty="0"/>
          </a:p>
          <a:p>
            <a:pPr marL="330200" indent="-330200">
              <a:spcAft>
                <a:spcPts val="1200"/>
              </a:spcAft>
              <a:buSzPct val="100000"/>
              <a:buChar char="•"/>
            </a:pPr>
            <a:r>
              <a:rPr lang="en-US" sz="3000" dirty="0">
                <a:solidFill>
                  <a:schemeClr val="bg1"/>
                </a:solidFill>
              </a:rPr>
              <a:t>Chứng minh kết quả có ý nghĩa thống kê</a:t>
            </a:r>
            <a:endParaRPr lang="en-US" sz="3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2. Ý tưởng cốt lõi</a:t>
            </a:r>
            <a:endParaRPr lang="en-US" sz="5000" dirty="0"/>
          </a:p>
        </p:txBody>
      </p:sp>
      <p:sp>
        <p:nvSpPr>
          <p:cNvPr id="3" name="Shape 1"/>
          <p:cNvSpPr/>
          <p:nvPr/>
        </p:nvSpPr>
        <p:spPr>
          <a:xfrm>
            <a:off x="914400" y="2011680"/>
            <a:ext cx="5120640" cy="7223760"/>
          </a:xfrm>
          <a:prstGeom prst="roundRect">
            <a:avLst>
              <a:gd name="adj" fmla="val 2143"/>
            </a:avLst>
          </a:prstGeom>
          <a:solidFill>
            <a:schemeClr val="accent4"/>
          </a:solidFill>
          <a:ln/>
        </p:spPr>
      </p:sp>
      <p:sp>
        <p:nvSpPr>
          <p:cNvPr id="4" name="Text 2"/>
          <p:cNvSpPr/>
          <p:nvPr/>
        </p:nvSpPr>
        <p:spPr>
          <a:xfrm>
            <a:off x="1280160" y="237744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1</a:t>
            </a:r>
            <a:endParaRPr lang="en-US" sz="3500" dirty="0"/>
          </a:p>
        </p:txBody>
      </p:sp>
      <p:sp>
        <p:nvSpPr>
          <p:cNvPr id="5" name="Text 3"/>
          <p:cNvSpPr txBox="1"/>
          <p:nvPr/>
        </p:nvSpPr>
        <p:spPr>
          <a:xfrm>
            <a:off x="1280160" y="356616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Pipeline module hóa</a:t>
            </a:r>
            <a:endParaRPr lang="en-US" sz="3800" dirty="0"/>
          </a:p>
        </p:txBody>
      </p:sp>
      <p:sp>
        <p:nvSpPr>
          <p:cNvPr id="6" name="Text 4"/>
          <p:cNvSpPr txBox="1"/>
          <p:nvPr/>
        </p:nvSpPr>
        <p:spPr>
          <a:xfrm>
            <a:off x="1280160" y="5074920"/>
            <a:ext cx="4389120" cy="3931920"/>
          </a:xfrm>
          <a:prstGeom prst="rect">
            <a:avLst/>
          </a:prstGeom>
          <a:noFill/>
          <a:ln/>
        </p:spPr>
        <p:txBody>
          <a:bodyPr wrap="square" lIns="0" tIns="0" rIns="0" bIns="0" rtlCol="0" anchor="t"/>
          <a:lstStyle/>
          <a:p>
            <a:pPr indent="0" marL="0">
              <a:buNone/>
            </a:pPr>
            <a:r>
              <a:rPr lang="en-US" sz="3100" dirty="0">
                <a:solidFill>
                  <a:schemeClr val="tx1"/>
                </a:solidFill>
              </a:rPr>
              <a:t>Các giai đoạn lập chỉ mục, truy hồi, tái xếp hạng và độ đo tương đồng đều cấu hình được qua giao diện dòng lệnh, nên thay đổi có kiểm soát từng tham số độc lập.</a:t>
            </a:r>
            <a:endParaRPr lang="en-US" sz="3100" dirty="0"/>
          </a:p>
        </p:txBody>
      </p:sp>
      <p:sp>
        <p:nvSpPr>
          <p:cNvPr id="7" name="Shape 5"/>
          <p:cNvSpPr/>
          <p:nvPr/>
        </p:nvSpPr>
        <p:spPr>
          <a:xfrm>
            <a:off x="6583680" y="2011680"/>
            <a:ext cx="5120640" cy="7223760"/>
          </a:xfrm>
          <a:prstGeom prst="roundRect">
            <a:avLst>
              <a:gd name="adj" fmla="val 2143"/>
            </a:avLst>
          </a:prstGeom>
          <a:solidFill>
            <a:schemeClr val="accent4"/>
          </a:solidFill>
          <a:ln/>
        </p:spPr>
      </p:sp>
      <p:sp>
        <p:nvSpPr>
          <p:cNvPr id="8" name="Text 6"/>
          <p:cNvSpPr/>
          <p:nvPr/>
        </p:nvSpPr>
        <p:spPr>
          <a:xfrm>
            <a:off x="6949440" y="237744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2</a:t>
            </a:r>
            <a:endParaRPr lang="en-US" sz="3500" dirty="0"/>
          </a:p>
        </p:txBody>
      </p:sp>
      <p:sp>
        <p:nvSpPr>
          <p:cNvPr id="9" name="Text 7"/>
          <p:cNvSpPr txBox="1"/>
          <p:nvPr/>
        </p:nvSpPr>
        <p:spPr>
          <a:xfrm>
            <a:off x="6949440" y="356616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Generator nhẹ, chi phí thấp</a:t>
            </a:r>
            <a:endParaRPr lang="en-US" sz="3800" dirty="0"/>
          </a:p>
        </p:txBody>
      </p:sp>
      <p:sp>
        <p:nvSpPr>
          <p:cNvPr id="10" name="Text 8"/>
          <p:cNvSpPr txBox="1"/>
          <p:nvPr/>
        </p:nvSpPr>
        <p:spPr>
          <a:xfrm>
            <a:off x="6949440" y="5074920"/>
            <a:ext cx="4389120" cy="3931920"/>
          </a:xfrm>
          <a:prstGeom prst="rect">
            <a:avLst/>
          </a:prstGeom>
          <a:noFill/>
          <a:ln/>
        </p:spPr>
        <p:txBody>
          <a:bodyPr wrap="square" lIns="0" tIns="0" rIns="0" bIns="0" rtlCol="0" anchor="t"/>
          <a:lstStyle/>
          <a:p>
            <a:pPr indent="0" marL="0">
              <a:buNone/>
            </a:pPr>
            <a:r>
              <a:rPr lang="en-US" sz="3100" dirty="0">
                <a:solidFill>
                  <a:schemeClr val="tx1"/>
                </a:solidFill>
              </a:rPr>
              <a:t>Chủ động chọn mô hình sinh nhẹ cho bước cuối để cô lập ảnh hưởng của truy hồi và tái xếp hạng, tránh nhiễu từ chất lượng sinh văn bản.</a:t>
            </a:r>
            <a:endParaRPr lang="en-US" sz="3100" dirty="0"/>
          </a:p>
        </p:txBody>
      </p:sp>
      <p:sp>
        <p:nvSpPr>
          <p:cNvPr id="11" name="Shape 9"/>
          <p:cNvSpPr/>
          <p:nvPr/>
        </p:nvSpPr>
        <p:spPr>
          <a:xfrm>
            <a:off x="12252960" y="2011680"/>
            <a:ext cx="5120640" cy="7223760"/>
          </a:xfrm>
          <a:prstGeom prst="roundRect">
            <a:avLst>
              <a:gd name="adj" fmla="val 2143"/>
            </a:avLst>
          </a:prstGeom>
          <a:solidFill>
            <a:schemeClr val="accent4"/>
          </a:solidFill>
          <a:ln/>
        </p:spPr>
      </p:sp>
      <p:sp>
        <p:nvSpPr>
          <p:cNvPr id="12" name="Text 10"/>
          <p:cNvSpPr/>
          <p:nvPr/>
        </p:nvSpPr>
        <p:spPr>
          <a:xfrm>
            <a:off x="12618720" y="237744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3</a:t>
            </a:r>
            <a:endParaRPr lang="en-US" sz="3500" dirty="0"/>
          </a:p>
        </p:txBody>
      </p:sp>
      <p:sp>
        <p:nvSpPr>
          <p:cNvPr id="13" name="Text 11"/>
          <p:cNvSpPr txBox="1"/>
          <p:nvPr/>
        </p:nvSpPr>
        <p:spPr>
          <a:xfrm>
            <a:off x="12618720" y="356616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Ba kiểm định bổ trợ</a:t>
            </a:r>
            <a:endParaRPr lang="en-US" sz="3800" dirty="0"/>
          </a:p>
        </p:txBody>
      </p:sp>
      <p:sp>
        <p:nvSpPr>
          <p:cNvPr id="14" name="Text 12"/>
          <p:cNvSpPr txBox="1"/>
          <p:nvPr/>
        </p:nvSpPr>
        <p:spPr>
          <a:xfrm>
            <a:off x="12618720" y="5074920"/>
            <a:ext cx="4389120" cy="3931920"/>
          </a:xfrm>
          <a:prstGeom prst="rect">
            <a:avLst/>
          </a:prstGeom>
          <a:noFill/>
          <a:ln/>
        </p:spPr>
        <p:txBody>
          <a:bodyPr wrap="square" lIns="0" tIns="0" rIns="0" bIns="0" rtlCol="0" anchor="t"/>
          <a:lstStyle/>
          <a:p>
            <a:pPr indent="0" marL="0">
              <a:buNone/>
            </a:pPr>
            <a:r>
              <a:rPr lang="en-US" sz="3100" dirty="0">
                <a:solidFill>
                  <a:schemeClr val="tx1"/>
                </a:solidFill>
              </a:rPr>
              <a:t>ANOVA, kích thước hiệu ứng (η²) và hồi quy đa biến cùng được áp dụng, cho kết luận mang tính giải thích thay vì chỉ mô tả cấu hình nào tốt hơn.</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2. Pipeline RAG đề xuất</a:t>
            </a:r>
            <a:endParaRPr lang="en-US" sz="5000" dirty="0"/>
          </a:p>
        </p:txBody>
      </p:sp>
      <p:sp>
        <p:nvSpPr>
          <p:cNvPr id="3" name="Text 1"/>
          <p:cNvSpPr/>
          <p:nvPr/>
        </p:nvSpPr>
        <p:spPr>
          <a:xfrm>
            <a:off x="914400" y="2011680"/>
            <a:ext cx="3383280" cy="2286000"/>
          </a:xfrm>
          <a:prstGeom prst="roundRect">
            <a:avLst>
              <a:gd name="adj" fmla="val 4800"/>
            </a:avLst>
          </a:prstGeom>
          <a:solidFill>
            <a:schemeClr val="accent4"/>
          </a:solidFill>
          <a:ln w="19050">
            <a:solidFill>
              <a:schemeClr val="accent5"/>
            </a:solidFill>
          </a:ln>
        </p:spPr>
        <p:txBody>
          <a:bodyPr wrap="square" lIns="203200" tIns="203200" rIns="203200" bIns="203200" rtlCol="0" anchor="ctr"/>
          <a:lstStyle/>
          <a:p>
            <a:pPr algn="l" indent="0" marL="0">
              <a:buNone/>
            </a:pPr>
            <a:r>
              <a:rPr lang="en-US" sz="3000" b="1" dirty="0">
                <a:solidFill>
                  <a:schemeClr val="tx1"/>
                </a:solidFill>
              </a:rPr>
              <a:t>1. Phân đoạn</a:t>
            </a:r>
            <a:endParaRPr lang="en-US" sz="3000" dirty="0"/>
          </a:p>
          <a:p>
            <a:pPr algn="l" indent="0" marL="0">
              <a:buNone/>
            </a:pPr>
            <a:r>
              <a:rPr lang="en-US" sz="2400" dirty="0">
                <a:solidFill>
                  <a:schemeClr val="accent3"/>
                </a:solidFill>
              </a:rPr>
              <a:t>Chunking tài liệu</a:t>
            </a:r>
            <a:endParaRPr lang="en-US" sz="3000" dirty="0"/>
          </a:p>
        </p:txBody>
      </p:sp>
      <p:sp>
        <p:nvSpPr>
          <p:cNvPr id="4" name="Text 2"/>
          <p:cNvSpPr txBox="1"/>
          <p:nvPr/>
        </p:nvSpPr>
        <p:spPr>
          <a:xfrm>
            <a:off x="4297680" y="201168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5" name="Text 3"/>
          <p:cNvSpPr/>
          <p:nvPr/>
        </p:nvSpPr>
        <p:spPr>
          <a:xfrm>
            <a:off x="5273040" y="2011680"/>
            <a:ext cx="3383280" cy="2286000"/>
          </a:xfrm>
          <a:prstGeom prst="roundRect">
            <a:avLst>
              <a:gd name="adj" fmla="val 4800"/>
            </a:avLst>
          </a:prstGeom>
          <a:solidFill>
            <a:schemeClr val="accent4"/>
          </a:solidFill>
          <a:ln w="19050">
            <a:solidFill>
              <a:schemeClr val="accent5"/>
            </a:solidFill>
          </a:ln>
        </p:spPr>
        <p:txBody>
          <a:bodyPr wrap="square" lIns="203200" tIns="203200" rIns="203200" bIns="203200" rtlCol="0" anchor="ctr"/>
          <a:lstStyle/>
          <a:p>
            <a:pPr algn="l" indent="0" marL="0">
              <a:buNone/>
            </a:pPr>
            <a:r>
              <a:rPr lang="en-US" sz="3000" b="1" dirty="0">
                <a:solidFill>
                  <a:schemeClr val="tx1"/>
                </a:solidFill>
              </a:rPr>
              <a:t>2. Embedding</a:t>
            </a:r>
            <a:endParaRPr lang="en-US" sz="3000" dirty="0"/>
          </a:p>
          <a:p>
            <a:pPr algn="l" indent="0" marL="0">
              <a:buNone/>
            </a:pPr>
            <a:r>
              <a:rPr lang="en-US" sz="2400" dirty="0">
                <a:solidFill>
                  <a:schemeClr val="accent3"/>
                </a:solidFill>
              </a:rPr>
              <a:t>Vector hóa các đoạn</a:t>
            </a:r>
            <a:endParaRPr lang="en-US" sz="3000" dirty="0"/>
          </a:p>
        </p:txBody>
      </p:sp>
      <p:sp>
        <p:nvSpPr>
          <p:cNvPr id="6" name="Text 4"/>
          <p:cNvSpPr txBox="1"/>
          <p:nvPr/>
        </p:nvSpPr>
        <p:spPr>
          <a:xfrm>
            <a:off x="8656320" y="201168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7" name="Text 5"/>
          <p:cNvSpPr/>
          <p:nvPr/>
        </p:nvSpPr>
        <p:spPr>
          <a:xfrm>
            <a:off x="9631680" y="2011680"/>
            <a:ext cx="3383280" cy="2286000"/>
          </a:xfrm>
          <a:prstGeom prst="roundRect">
            <a:avLst>
              <a:gd name="adj" fmla="val 4800"/>
            </a:avLst>
          </a:prstGeom>
          <a:solidFill>
            <a:schemeClr val="accent1"/>
          </a:solidFill>
          <a:ln/>
        </p:spPr>
        <p:txBody>
          <a:bodyPr wrap="square" lIns="203200" tIns="203200" rIns="203200" bIns="203200" rtlCol="0" anchor="ctr"/>
          <a:lstStyle/>
          <a:p>
            <a:pPr algn="l" indent="0" marL="0">
              <a:buNone/>
            </a:pPr>
            <a:r>
              <a:rPr lang="en-US" sz="3000" b="1" dirty="0">
                <a:solidFill>
                  <a:schemeClr val="bg1"/>
                </a:solidFill>
              </a:rPr>
              <a:t>3. Lập chỉ mục</a:t>
            </a:r>
            <a:endParaRPr lang="en-US" sz="3000" dirty="0"/>
          </a:p>
          <a:p>
            <a:pPr algn="l" indent="0" marL="0">
              <a:buNone/>
            </a:pPr>
            <a:r>
              <a:rPr lang="en-US" sz="2400" dirty="0">
                <a:solidFill>
                  <a:schemeClr val="bg1"/>
                </a:solidFill>
              </a:rPr>
              <a:t>Vector DB + ANN index</a:t>
            </a:r>
            <a:endParaRPr lang="en-US" sz="3000" dirty="0"/>
          </a:p>
        </p:txBody>
      </p:sp>
      <p:sp>
        <p:nvSpPr>
          <p:cNvPr id="8" name="Text 6"/>
          <p:cNvSpPr txBox="1"/>
          <p:nvPr/>
        </p:nvSpPr>
        <p:spPr>
          <a:xfrm>
            <a:off x="13014960" y="201168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9" name="Text 7"/>
          <p:cNvSpPr/>
          <p:nvPr/>
        </p:nvSpPr>
        <p:spPr>
          <a:xfrm>
            <a:off x="13990320" y="2011680"/>
            <a:ext cx="3383280" cy="2286000"/>
          </a:xfrm>
          <a:prstGeom prst="roundRect">
            <a:avLst>
              <a:gd name="adj" fmla="val 4800"/>
            </a:avLst>
          </a:prstGeom>
          <a:solidFill>
            <a:schemeClr val="accent1"/>
          </a:solidFill>
          <a:ln/>
        </p:spPr>
        <p:txBody>
          <a:bodyPr wrap="square" lIns="203200" tIns="203200" rIns="203200" bIns="203200" rtlCol="0" anchor="ctr"/>
          <a:lstStyle/>
          <a:p>
            <a:pPr algn="l" indent="0" marL="0">
              <a:buNone/>
            </a:pPr>
            <a:r>
              <a:rPr lang="en-US" sz="3000" b="1" dirty="0">
                <a:solidFill>
                  <a:schemeClr val="bg1"/>
                </a:solidFill>
              </a:rPr>
              <a:t>4. Truy hồi</a:t>
            </a:r>
            <a:endParaRPr lang="en-US" sz="3000" dirty="0"/>
          </a:p>
          <a:p>
            <a:pPr algn="l" indent="0" marL="0">
              <a:buNone/>
            </a:pPr>
            <a:r>
              <a:rPr lang="en-US" sz="2400" dirty="0">
                <a:solidFill>
                  <a:schemeClr val="bg1"/>
                </a:solidFill>
              </a:rPr>
              <a:t>Top-k + độ đo tương đồng</a:t>
            </a:r>
            <a:endParaRPr lang="en-US" sz="3000" dirty="0"/>
          </a:p>
        </p:txBody>
      </p:sp>
      <p:sp>
        <p:nvSpPr>
          <p:cNvPr id="10" name="Text 8"/>
          <p:cNvSpPr/>
          <p:nvPr/>
        </p:nvSpPr>
        <p:spPr>
          <a:xfrm>
            <a:off x="13990320" y="5394960"/>
            <a:ext cx="3383280" cy="2286000"/>
          </a:xfrm>
          <a:prstGeom prst="roundRect">
            <a:avLst>
              <a:gd name="adj" fmla="val 4800"/>
            </a:avLst>
          </a:prstGeom>
          <a:solidFill>
            <a:schemeClr val="accent1"/>
          </a:solidFill>
          <a:ln/>
        </p:spPr>
        <p:txBody>
          <a:bodyPr wrap="square" lIns="203200" tIns="203200" rIns="203200" bIns="203200" rtlCol="0" anchor="ctr"/>
          <a:lstStyle/>
          <a:p>
            <a:pPr algn="l" indent="0" marL="0">
              <a:buNone/>
            </a:pPr>
            <a:r>
              <a:rPr lang="en-US" sz="3000" b="1" dirty="0">
                <a:solidFill>
                  <a:schemeClr val="bg1"/>
                </a:solidFill>
              </a:rPr>
              <a:t>5. Tái xếp hạng</a:t>
            </a:r>
            <a:endParaRPr lang="en-US" sz="3000" dirty="0"/>
          </a:p>
          <a:p>
            <a:pPr algn="l" indent="0" marL="0">
              <a:buNone/>
            </a:pPr>
            <a:r>
              <a:rPr lang="en-US" sz="2400" dirty="0">
                <a:solidFill>
                  <a:schemeClr val="bg1"/>
                </a:solidFill>
              </a:rPr>
              <a:t>Cross-encoder</a:t>
            </a:r>
            <a:endParaRPr lang="en-US" sz="3000" dirty="0"/>
          </a:p>
        </p:txBody>
      </p:sp>
      <p:sp>
        <p:nvSpPr>
          <p:cNvPr id="11" name="Text 9"/>
          <p:cNvSpPr txBox="1"/>
          <p:nvPr/>
        </p:nvSpPr>
        <p:spPr>
          <a:xfrm>
            <a:off x="13014960" y="539496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12" name="Text 10"/>
          <p:cNvSpPr/>
          <p:nvPr/>
        </p:nvSpPr>
        <p:spPr>
          <a:xfrm>
            <a:off x="9631680" y="5394960"/>
            <a:ext cx="3383280" cy="2286000"/>
          </a:xfrm>
          <a:prstGeom prst="roundRect">
            <a:avLst>
              <a:gd name="adj" fmla="val 4800"/>
            </a:avLst>
          </a:prstGeom>
          <a:solidFill>
            <a:schemeClr val="accent4"/>
          </a:solidFill>
          <a:ln w="19050">
            <a:solidFill>
              <a:schemeClr val="accent5"/>
            </a:solidFill>
          </a:ln>
        </p:spPr>
        <p:txBody>
          <a:bodyPr wrap="square" lIns="203200" tIns="203200" rIns="203200" bIns="203200" rtlCol="0" anchor="ctr"/>
          <a:lstStyle/>
          <a:p>
            <a:pPr algn="l" indent="0" marL="0">
              <a:buNone/>
            </a:pPr>
            <a:r>
              <a:rPr lang="en-US" sz="3000" b="1" dirty="0">
                <a:solidFill>
                  <a:schemeClr val="tx1"/>
                </a:solidFill>
              </a:rPr>
              <a:t>6. Sinh câu trả lời</a:t>
            </a:r>
            <a:endParaRPr lang="en-US" sz="3000" dirty="0"/>
          </a:p>
          <a:p>
            <a:pPr algn="l" indent="0" marL="0">
              <a:buNone/>
            </a:pPr>
            <a:r>
              <a:rPr lang="en-US" sz="2400" dirty="0">
                <a:solidFill>
                  <a:schemeClr val="accent3"/>
                </a:solidFill>
              </a:rPr>
              <a:t>Mô hình ngôn ngữ nhẹ</a:t>
            </a:r>
            <a:endParaRPr lang="en-US" sz="3000" dirty="0"/>
          </a:p>
        </p:txBody>
      </p:sp>
      <p:sp>
        <p:nvSpPr>
          <p:cNvPr id="13" name="Text 11"/>
          <p:cNvSpPr txBox="1"/>
          <p:nvPr/>
        </p:nvSpPr>
        <p:spPr>
          <a:xfrm>
            <a:off x="8656320" y="539496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14" name="Text 12"/>
          <p:cNvSpPr/>
          <p:nvPr/>
        </p:nvSpPr>
        <p:spPr>
          <a:xfrm>
            <a:off x="5273040" y="5394960"/>
            <a:ext cx="3383280" cy="2286000"/>
          </a:xfrm>
          <a:prstGeom prst="roundRect">
            <a:avLst>
              <a:gd name="adj" fmla="val 4800"/>
            </a:avLst>
          </a:prstGeom>
          <a:solidFill>
            <a:schemeClr val="accent2"/>
          </a:solidFill>
          <a:ln/>
        </p:spPr>
        <p:txBody>
          <a:bodyPr wrap="square" lIns="203200" tIns="203200" rIns="203200" bIns="203200" rtlCol="0" anchor="ctr"/>
          <a:lstStyle/>
          <a:p>
            <a:pPr algn="l" indent="0" marL="0">
              <a:buNone/>
            </a:pPr>
            <a:r>
              <a:rPr lang="en-US" sz="3000" b="1" dirty="0">
                <a:solidFill>
                  <a:schemeClr val="tx1"/>
                </a:solidFill>
              </a:rPr>
              <a:t>7. Đánh giá</a:t>
            </a:r>
            <a:endParaRPr lang="en-US" sz="3000" dirty="0"/>
          </a:p>
          <a:p>
            <a:pPr algn="l" indent="0" marL="0">
              <a:buNone/>
            </a:pPr>
            <a:r>
              <a:rPr lang="en-US" sz="2400" dirty="0">
                <a:solidFill>
                  <a:schemeClr val="accent3"/>
                </a:solidFill>
              </a:rPr>
              <a:t>Truy hồi, sinh, hiệu suất</a:t>
            </a:r>
            <a:endParaRPr lang="en-US" sz="3000" dirty="0"/>
          </a:p>
        </p:txBody>
      </p:sp>
      <p:sp>
        <p:nvSpPr>
          <p:cNvPr id="15" name="Text 13"/>
          <p:cNvSpPr txBox="1"/>
          <p:nvPr/>
        </p:nvSpPr>
        <p:spPr>
          <a:xfrm>
            <a:off x="4297680" y="5394960"/>
            <a:ext cx="975360" cy="228600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16" name="Text 14"/>
          <p:cNvSpPr/>
          <p:nvPr/>
        </p:nvSpPr>
        <p:spPr>
          <a:xfrm>
            <a:off x="914400" y="5394960"/>
            <a:ext cx="3383280" cy="2286000"/>
          </a:xfrm>
          <a:prstGeom prst="roundRect">
            <a:avLst>
              <a:gd name="adj" fmla="val 4800"/>
            </a:avLst>
          </a:prstGeom>
          <a:solidFill>
            <a:schemeClr val="accent2"/>
          </a:solidFill>
          <a:ln/>
        </p:spPr>
        <p:txBody>
          <a:bodyPr wrap="square" lIns="203200" tIns="203200" rIns="203200" bIns="203200" rtlCol="0" anchor="ctr"/>
          <a:lstStyle/>
          <a:p>
            <a:pPr algn="l" indent="0" marL="0">
              <a:buNone/>
            </a:pPr>
            <a:r>
              <a:rPr lang="en-US" sz="3000" b="1" dirty="0">
                <a:solidFill>
                  <a:schemeClr val="tx1"/>
                </a:solidFill>
              </a:rPr>
              <a:t>8. Kiểm định thống kê</a:t>
            </a:r>
            <a:endParaRPr lang="en-US" sz="3000" dirty="0"/>
          </a:p>
          <a:p>
            <a:pPr algn="l" indent="0" marL="0">
              <a:buNone/>
            </a:pPr>
            <a:r>
              <a:rPr lang="en-US" sz="2400" dirty="0">
                <a:solidFill>
                  <a:schemeClr val="accent3"/>
                </a:solidFill>
              </a:rPr>
              <a:t>ANOVA, η², hồi quy</a:t>
            </a:r>
            <a:endParaRPr lang="en-US" sz="3000" dirty="0"/>
          </a:p>
        </p:txBody>
      </p:sp>
      <p:sp>
        <p:nvSpPr>
          <p:cNvPr id="17" name="Text 15"/>
          <p:cNvSpPr txBox="1"/>
          <p:nvPr/>
        </p:nvSpPr>
        <p:spPr>
          <a:xfrm>
            <a:off x="13990320" y="4297680"/>
            <a:ext cx="3383280" cy="1097280"/>
          </a:xfrm>
          <a:prstGeom prst="rect">
            <a:avLst/>
          </a:prstGeom>
          <a:noFill/>
          <a:ln/>
        </p:spPr>
        <p:txBody>
          <a:bodyPr wrap="square" lIns="0" tIns="0" rIns="0" bIns="0" rtlCol="0" anchor="ctr"/>
          <a:lstStyle/>
          <a:p>
            <a:pPr algn="ctr" indent="0" marL="0">
              <a:buNone/>
            </a:pPr>
            <a:r>
              <a:rPr lang="en-US" sz="5300" dirty="0">
                <a:solidFill>
                  <a:schemeClr val="accent1"/>
                </a:solidFill>
              </a:rPr>
              <a:t>↓</a:t>
            </a:r>
            <a:endParaRPr lang="en-US" sz="5300" dirty="0"/>
          </a:p>
        </p:txBody>
      </p:sp>
      <p:sp>
        <p:nvSpPr>
          <p:cNvPr id="18" name="Shape 16"/>
          <p:cNvSpPr/>
          <p:nvPr/>
        </p:nvSpPr>
        <p:spPr>
          <a:xfrm>
            <a:off x="914400" y="8805672"/>
            <a:ext cx="457200" cy="365760"/>
          </a:xfrm>
          <a:prstGeom prst="roundRect">
            <a:avLst>
              <a:gd name="adj" fmla="val 30000"/>
            </a:avLst>
          </a:prstGeom>
          <a:solidFill>
            <a:schemeClr val="accent1"/>
          </a:solidFill>
          <a:ln/>
        </p:spPr>
      </p:sp>
      <p:sp>
        <p:nvSpPr>
          <p:cNvPr id="19" name="Text 17"/>
          <p:cNvSpPr txBox="1"/>
          <p:nvPr/>
        </p:nvSpPr>
        <p:spPr>
          <a:xfrm>
            <a:off x="1554480" y="8732520"/>
            <a:ext cx="4754880" cy="512064"/>
          </a:xfrm>
          <a:prstGeom prst="rect">
            <a:avLst/>
          </a:prstGeom>
          <a:noFill/>
          <a:ln/>
        </p:spPr>
        <p:txBody>
          <a:bodyPr wrap="square" lIns="0" tIns="0" rIns="0" bIns="0" rtlCol="0" anchor="ctr"/>
          <a:lstStyle/>
          <a:p>
            <a:pPr indent="0" marL="0">
              <a:buNone/>
            </a:pPr>
            <a:r>
              <a:rPr lang="en-US" sz="2900" dirty="0">
                <a:solidFill>
                  <a:schemeClr val="tx1"/>
                </a:solidFill>
              </a:rPr>
              <a:t>Thành phần được khảo sát</a:t>
            </a:r>
            <a:endParaRPr lang="en-US" sz="2900" dirty="0"/>
          </a:p>
        </p:txBody>
      </p:sp>
      <p:sp>
        <p:nvSpPr>
          <p:cNvPr id="20" name="Shape 18"/>
          <p:cNvSpPr/>
          <p:nvPr/>
        </p:nvSpPr>
        <p:spPr>
          <a:xfrm>
            <a:off x="6766560" y="8805672"/>
            <a:ext cx="457200" cy="365760"/>
          </a:xfrm>
          <a:prstGeom prst="roundRect">
            <a:avLst>
              <a:gd name="adj" fmla="val 30000"/>
            </a:avLst>
          </a:prstGeom>
          <a:solidFill>
            <a:schemeClr val="accent4"/>
          </a:solidFill>
          <a:ln w="19050">
            <a:solidFill>
              <a:schemeClr val="accent5"/>
            </a:solidFill>
            <a:prstDash val="solid"/>
          </a:ln>
        </p:spPr>
      </p:sp>
      <p:sp>
        <p:nvSpPr>
          <p:cNvPr id="21" name="Text 19"/>
          <p:cNvSpPr txBox="1"/>
          <p:nvPr/>
        </p:nvSpPr>
        <p:spPr>
          <a:xfrm>
            <a:off x="7406640" y="8732520"/>
            <a:ext cx="2011680" cy="512064"/>
          </a:xfrm>
          <a:prstGeom prst="rect">
            <a:avLst/>
          </a:prstGeom>
          <a:noFill/>
          <a:ln/>
        </p:spPr>
        <p:txBody>
          <a:bodyPr wrap="square" lIns="0" tIns="0" rIns="0" bIns="0" rtlCol="0" anchor="ctr"/>
          <a:lstStyle/>
          <a:p>
            <a:pPr indent="0" marL="0">
              <a:buNone/>
            </a:pPr>
            <a:r>
              <a:rPr lang="en-US" sz="2900" dirty="0">
                <a:solidFill>
                  <a:schemeClr val="tx1"/>
                </a:solidFill>
              </a:rPr>
              <a:t>Cố định</a:t>
            </a:r>
            <a:endParaRPr lang="en-US" sz="2900" dirty="0"/>
          </a:p>
        </p:txBody>
      </p:sp>
      <p:sp>
        <p:nvSpPr>
          <p:cNvPr id="22" name="Shape 20"/>
          <p:cNvSpPr/>
          <p:nvPr/>
        </p:nvSpPr>
        <p:spPr>
          <a:xfrm>
            <a:off x="9601200" y="8805672"/>
            <a:ext cx="457200" cy="365760"/>
          </a:xfrm>
          <a:prstGeom prst="roundRect">
            <a:avLst>
              <a:gd name="adj" fmla="val 30000"/>
            </a:avLst>
          </a:prstGeom>
          <a:solidFill>
            <a:schemeClr val="accent2"/>
          </a:solidFill>
          <a:ln/>
        </p:spPr>
      </p:sp>
      <p:sp>
        <p:nvSpPr>
          <p:cNvPr id="23" name="Text 21"/>
          <p:cNvSpPr txBox="1"/>
          <p:nvPr/>
        </p:nvSpPr>
        <p:spPr>
          <a:xfrm>
            <a:off x="10241280" y="8732520"/>
            <a:ext cx="5029200" cy="512064"/>
          </a:xfrm>
          <a:prstGeom prst="rect">
            <a:avLst/>
          </a:prstGeom>
          <a:noFill/>
          <a:ln/>
        </p:spPr>
        <p:txBody>
          <a:bodyPr wrap="square" lIns="0" tIns="0" rIns="0" bIns="0" rtlCol="0" anchor="ctr"/>
          <a:lstStyle/>
          <a:p>
            <a:pPr indent="0" marL="0">
              <a:buNone/>
            </a:pPr>
            <a:r>
              <a:rPr lang="en-US" sz="2900" dirty="0">
                <a:solidFill>
                  <a:schemeClr val="tx1"/>
                </a:solidFill>
              </a:rPr>
              <a:t>Đánh giá và phân tích</a:t>
            </a:r>
            <a:endParaRPr lang="en-US" sz="2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3.1 Dataset</a:t>
            </a:r>
            <a:endParaRPr lang="en-US" sz="5000" dirty="0"/>
          </a:p>
        </p:txBody>
      </p:sp>
      <p:sp>
        <p:nvSpPr>
          <p:cNvPr id="3" name="Shape 1"/>
          <p:cNvSpPr/>
          <p:nvPr/>
        </p:nvSpPr>
        <p:spPr>
          <a:xfrm>
            <a:off x="914400" y="1920240"/>
            <a:ext cx="8229600" cy="7315200"/>
          </a:xfrm>
          <a:prstGeom prst="roundRect">
            <a:avLst>
              <a:gd name="adj" fmla="val 1500"/>
            </a:avLst>
          </a:prstGeom>
          <a:solidFill>
            <a:schemeClr val="accent4"/>
          </a:solidFill>
          <a:ln/>
        </p:spPr>
      </p:sp>
      <p:sp>
        <p:nvSpPr>
          <p:cNvPr id="4" name="Text 2"/>
          <p:cNvSpPr txBox="1"/>
          <p:nvPr/>
        </p:nvSpPr>
        <p:spPr>
          <a:xfrm>
            <a:off x="1325880" y="2286000"/>
            <a:ext cx="7406640" cy="731520"/>
          </a:xfrm>
          <a:prstGeom prst="rect">
            <a:avLst/>
          </a:prstGeom>
          <a:noFill/>
          <a:ln/>
        </p:spPr>
        <p:txBody>
          <a:bodyPr wrap="square" lIns="0" tIns="0" rIns="0" bIns="0" rtlCol="0" anchor="t"/>
          <a:lstStyle/>
          <a:p>
            <a:pPr indent="0" marL="0">
              <a:buNone/>
            </a:pPr>
            <a:r>
              <a:rPr lang="en-US" sz="4300" b="1" dirty="0">
                <a:solidFill>
                  <a:schemeClr val="accent1"/>
                </a:solidFill>
              </a:rPr>
              <a:t>SQuAD</a:t>
            </a:r>
            <a:endParaRPr lang="en-US" sz="4300" dirty="0"/>
          </a:p>
        </p:txBody>
      </p:sp>
      <p:sp>
        <p:nvSpPr>
          <p:cNvPr id="5" name="Text 3"/>
          <p:cNvSpPr txBox="1"/>
          <p:nvPr/>
        </p:nvSpPr>
        <p:spPr>
          <a:xfrm>
            <a:off x="1325880" y="3017520"/>
            <a:ext cx="7406640" cy="457200"/>
          </a:xfrm>
          <a:prstGeom prst="rect">
            <a:avLst/>
          </a:prstGeom>
          <a:noFill/>
          <a:ln/>
        </p:spPr>
        <p:txBody>
          <a:bodyPr wrap="square" lIns="0" tIns="0" rIns="0" bIns="0" rtlCol="0" anchor="t"/>
          <a:lstStyle/>
          <a:p>
            <a:pPr indent="0" marL="0">
              <a:buNone/>
            </a:pPr>
            <a:r>
              <a:rPr lang="en-US" sz="2900" dirty="0">
                <a:solidFill>
                  <a:schemeClr val="accent3"/>
                </a:solidFill>
              </a:rPr>
              <a:t>Stanford Question Answering Dataset</a:t>
            </a:r>
            <a:endParaRPr lang="en-US" sz="2900" dirty="0"/>
          </a:p>
        </p:txBody>
      </p:sp>
      <p:sp>
        <p:nvSpPr>
          <p:cNvPr id="6" name="Text 4"/>
          <p:cNvSpPr txBox="1"/>
          <p:nvPr/>
        </p:nvSpPr>
        <p:spPr>
          <a:xfrm>
            <a:off x="1325880" y="3840480"/>
            <a:ext cx="7406640" cy="5212080"/>
          </a:xfrm>
          <a:prstGeom prst="rect">
            <a:avLst/>
          </a:prstGeom>
          <a:noFill/>
          <a:ln/>
        </p:spPr>
        <p:txBody>
          <a:bodyPr wrap="square" lIns="0" tIns="0" rIns="0" bIns="0" rtlCol="0" anchor="t"/>
          <a:lstStyle/>
          <a:p>
            <a:pPr marL="330200" indent="-330200">
              <a:spcAft>
                <a:spcPts val="1200"/>
              </a:spcAft>
              <a:buSzPct val="100000"/>
              <a:buChar char="•"/>
            </a:pPr>
            <a:r>
              <a:rPr lang="en-US" sz="3400" dirty="0">
                <a:solidFill>
                  <a:schemeClr val="tx1"/>
                </a:solidFill>
              </a:rPr>
              <a:t>Mỗi mẫu gồm một đoạn văn Wikipedia, một câu hỏi và một hoặc nhiều câu trả lời chuẩn</a:t>
            </a:r>
            <a:endParaRPr lang="en-US" sz="3400" dirty="0"/>
          </a:p>
          <a:p>
            <a:pPr marL="330200" indent="-330200">
              <a:spcAft>
                <a:spcPts val="1200"/>
              </a:spcAft>
              <a:buSzPct val="100000"/>
              <a:buChar char="•"/>
            </a:pPr>
            <a:r>
              <a:rPr lang="en-US" sz="3400" dirty="0">
                <a:solidFill>
                  <a:schemeClr val="tx1"/>
                </a:solidFill>
              </a:rPr>
              <a:t>Do người chú thích tạo từ các bài Wikipedia</a:t>
            </a:r>
            <a:endParaRPr lang="en-US" sz="3400" dirty="0"/>
          </a:p>
          <a:p>
            <a:pPr marL="330200" indent="-330200">
              <a:spcAft>
                <a:spcPts val="1200"/>
              </a:spcAft>
              <a:buSzPct val="100000"/>
              <a:buChar char="•"/>
            </a:pPr>
            <a:r>
              <a:rPr lang="en-US" sz="3400" dirty="0">
                <a:solidFill>
                  <a:schemeClr val="tx1"/>
                </a:solidFill>
              </a:rPr>
              <a:t>Bộ gốc khoảng 100.000 mẫu</a:t>
            </a:r>
            <a:endParaRPr lang="en-US" sz="3400" dirty="0"/>
          </a:p>
        </p:txBody>
      </p:sp>
      <p:sp>
        <p:nvSpPr>
          <p:cNvPr id="7" name="Text 5"/>
          <p:cNvSpPr txBox="1"/>
          <p:nvPr/>
        </p:nvSpPr>
        <p:spPr>
          <a:xfrm>
            <a:off x="9692640" y="1920240"/>
            <a:ext cx="7680960" cy="1280160"/>
          </a:xfrm>
          <a:prstGeom prst="rect">
            <a:avLst/>
          </a:prstGeom>
          <a:noFill/>
          <a:ln/>
        </p:spPr>
        <p:txBody>
          <a:bodyPr wrap="square" lIns="0" tIns="0" rIns="0" bIns="0" rtlCol="0" anchor="t"/>
          <a:lstStyle/>
          <a:p>
            <a:pPr indent="0" marL="0">
              <a:buNone/>
            </a:pPr>
            <a:r>
              <a:rPr lang="en-US" sz="3600" b="1" dirty="0">
                <a:solidFill>
                  <a:schemeClr val="accent1"/>
                </a:solidFill>
              </a:rPr>
              <a:t>Ba bộ con lấy mẫu ngẫu nhiên có kiểm soát</a:t>
            </a:r>
            <a:endParaRPr lang="en-US" sz="3600" dirty="0"/>
          </a:p>
        </p:txBody>
      </p:sp>
      <p:sp>
        <p:nvSpPr>
          <p:cNvPr id="8" name="Shape 6"/>
          <p:cNvSpPr/>
          <p:nvPr/>
        </p:nvSpPr>
        <p:spPr>
          <a:xfrm>
            <a:off x="9692640" y="3291840"/>
            <a:ext cx="7680960" cy="1371600"/>
          </a:xfrm>
          <a:prstGeom prst="roundRect">
            <a:avLst>
              <a:gd name="adj" fmla="val 8000"/>
            </a:avLst>
          </a:prstGeom>
          <a:solidFill>
            <a:schemeClr val="accent2"/>
          </a:solidFill>
          <a:ln/>
        </p:spPr>
      </p:sp>
      <p:sp>
        <p:nvSpPr>
          <p:cNvPr id="9" name="Text 7"/>
          <p:cNvSpPr txBox="1"/>
          <p:nvPr/>
        </p:nvSpPr>
        <p:spPr>
          <a:xfrm>
            <a:off x="10058400" y="3291840"/>
            <a:ext cx="3291840" cy="1371600"/>
          </a:xfrm>
          <a:prstGeom prst="rect">
            <a:avLst/>
          </a:prstGeom>
          <a:noFill/>
          <a:ln/>
        </p:spPr>
        <p:txBody>
          <a:bodyPr wrap="square" lIns="0" tIns="0" rIns="0" bIns="0" rtlCol="0" anchor="ctr"/>
          <a:lstStyle/>
          <a:p>
            <a:pPr indent="0" marL="0">
              <a:buNone/>
            </a:pPr>
            <a:r>
              <a:rPr lang="en-US" sz="6500" b="1" dirty="0">
                <a:solidFill>
                  <a:schemeClr val="accent1"/>
                </a:solidFill>
              </a:rPr>
              <a:t>10k</a:t>
            </a:r>
            <a:endParaRPr lang="en-US" sz="6500" dirty="0"/>
          </a:p>
        </p:txBody>
      </p:sp>
      <p:sp>
        <p:nvSpPr>
          <p:cNvPr id="10" name="Text 8"/>
          <p:cNvSpPr txBox="1"/>
          <p:nvPr/>
        </p:nvSpPr>
        <p:spPr>
          <a:xfrm>
            <a:off x="13533120" y="3291840"/>
            <a:ext cx="3566160" cy="1371600"/>
          </a:xfrm>
          <a:prstGeom prst="rect">
            <a:avLst/>
          </a:prstGeom>
          <a:noFill/>
          <a:ln/>
        </p:spPr>
        <p:txBody>
          <a:bodyPr wrap="square" lIns="0" tIns="0" rIns="0" bIns="0" rtlCol="0" anchor="ctr"/>
          <a:lstStyle/>
          <a:p>
            <a:pPr indent="0" marL="0">
              <a:buNone/>
            </a:pPr>
            <a:r>
              <a:rPr lang="en-US" sz="3600" dirty="0">
                <a:solidFill>
                  <a:schemeClr val="tx1"/>
                </a:solidFill>
              </a:rPr>
              <a:t>Small</a:t>
            </a:r>
            <a:endParaRPr lang="en-US" sz="3600" dirty="0"/>
          </a:p>
        </p:txBody>
      </p:sp>
      <p:sp>
        <p:nvSpPr>
          <p:cNvPr id="11" name="Shape 9"/>
          <p:cNvSpPr/>
          <p:nvPr/>
        </p:nvSpPr>
        <p:spPr>
          <a:xfrm>
            <a:off x="9692640" y="4846320"/>
            <a:ext cx="7680960" cy="1371600"/>
          </a:xfrm>
          <a:prstGeom prst="roundRect">
            <a:avLst>
              <a:gd name="adj" fmla="val 8000"/>
            </a:avLst>
          </a:prstGeom>
          <a:solidFill>
            <a:schemeClr val="accent2"/>
          </a:solidFill>
          <a:ln/>
        </p:spPr>
      </p:sp>
      <p:sp>
        <p:nvSpPr>
          <p:cNvPr id="12" name="Text 10"/>
          <p:cNvSpPr txBox="1"/>
          <p:nvPr/>
        </p:nvSpPr>
        <p:spPr>
          <a:xfrm>
            <a:off x="10058400" y="4846320"/>
            <a:ext cx="3291840" cy="1371600"/>
          </a:xfrm>
          <a:prstGeom prst="rect">
            <a:avLst/>
          </a:prstGeom>
          <a:noFill/>
          <a:ln/>
        </p:spPr>
        <p:txBody>
          <a:bodyPr wrap="square" lIns="0" tIns="0" rIns="0" bIns="0" rtlCol="0" anchor="ctr"/>
          <a:lstStyle/>
          <a:p>
            <a:pPr indent="0" marL="0">
              <a:buNone/>
            </a:pPr>
            <a:r>
              <a:rPr lang="en-US" sz="6500" b="1" dirty="0">
                <a:solidFill>
                  <a:schemeClr val="accent1"/>
                </a:solidFill>
              </a:rPr>
              <a:t>30k</a:t>
            </a:r>
            <a:endParaRPr lang="en-US" sz="6500" dirty="0"/>
          </a:p>
        </p:txBody>
      </p:sp>
      <p:sp>
        <p:nvSpPr>
          <p:cNvPr id="13" name="Text 11"/>
          <p:cNvSpPr txBox="1"/>
          <p:nvPr/>
        </p:nvSpPr>
        <p:spPr>
          <a:xfrm>
            <a:off x="13533120" y="4846320"/>
            <a:ext cx="3566160" cy="1371600"/>
          </a:xfrm>
          <a:prstGeom prst="rect">
            <a:avLst/>
          </a:prstGeom>
          <a:noFill/>
          <a:ln/>
        </p:spPr>
        <p:txBody>
          <a:bodyPr wrap="square" lIns="0" tIns="0" rIns="0" bIns="0" rtlCol="0" anchor="ctr"/>
          <a:lstStyle/>
          <a:p>
            <a:pPr indent="0" marL="0">
              <a:buNone/>
            </a:pPr>
            <a:r>
              <a:rPr lang="en-US" sz="3600" dirty="0">
                <a:solidFill>
                  <a:schemeClr val="tx1"/>
                </a:solidFill>
              </a:rPr>
              <a:t>Medium</a:t>
            </a:r>
            <a:endParaRPr lang="en-US" sz="3600" dirty="0"/>
          </a:p>
        </p:txBody>
      </p:sp>
      <p:sp>
        <p:nvSpPr>
          <p:cNvPr id="14" name="Shape 12"/>
          <p:cNvSpPr/>
          <p:nvPr/>
        </p:nvSpPr>
        <p:spPr>
          <a:xfrm>
            <a:off x="9692640" y="6400800"/>
            <a:ext cx="7680960" cy="1371600"/>
          </a:xfrm>
          <a:prstGeom prst="roundRect">
            <a:avLst>
              <a:gd name="adj" fmla="val 8000"/>
            </a:avLst>
          </a:prstGeom>
          <a:solidFill>
            <a:schemeClr val="accent2"/>
          </a:solidFill>
          <a:ln/>
        </p:spPr>
      </p:sp>
      <p:sp>
        <p:nvSpPr>
          <p:cNvPr id="15" name="Text 13"/>
          <p:cNvSpPr txBox="1"/>
          <p:nvPr/>
        </p:nvSpPr>
        <p:spPr>
          <a:xfrm>
            <a:off x="10058400" y="6400800"/>
            <a:ext cx="3291840" cy="1371600"/>
          </a:xfrm>
          <a:prstGeom prst="rect">
            <a:avLst/>
          </a:prstGeom>
          <a:noFill/>
          <a:ln/>
        </p:spPr>
        <p:txBody>
          <a:bodyPr wrap="square" lIns="0" tIns="0" rIns="0" bIns="0" rtlCol="0" anchor="ctr"/>
          <a:lstStyle/>
          <a:p>
            <a:pPr indent="0" marL="0">
              <a:buNone/>
            </a:pPr>
            <a:r>
              <a:rPr lang="en-US" sz="6500" b="1" dirty="0">
                <a:solidFill>
                  <a:schemeClr val="accent1"/>
                </a:solidFill>
              </a:rPr>
              <a:t>100k</a:t>
            </a:r>
            <a:endParaRPr lang="en-US" sz="6500" dirty="0"/>
          </a:p>
        </p:txBody>
      </p:sp>
      <p:sp>
        <p:nvSpPr>
          <p:cNvPr id="16" name="Text 14"/>
          <p:cNvSpPr txBox="1"/>
          <p:nvPr/>
        </p:nvSpPr>
        <p:spPr>
          <a:xfrm>
            <a:off x="13533120" y="6400800"/>
            <a:ext cx="3566160" cy="1371600"/>
          </a:xfrm>
          <a:prstGeom prst="rect">
            <a:avLst/>
          </a:prstGeom>
          <a:noFill/>
          <a:ln/>
        </p:spPr>
        <p:txBody>
          <a:bodyPr wrap="square" lIns="0" tIns="0" rIns="0" bIns="0" rtlCol="0" anchor="ctr"/>
          <a:lstStyle/>
          <a:p>
            <a:pPr indent="0" marL="0">
              <a:buNone/>
            </a:pPr>
            <a:r>
              <a:rPr lang="en-US" sz="3600" dirty="0">
                <a:solidFill>
                  <a:schemeClr val="tx1"/>
                </a:solidFill>
              </a:rPr>
              <a:t>Large</a:t>
            </a:r>
            <a:endParaRPr lang="en-US" sz="3600" dirty="0"/>
          </a:p>
        </p:txBody>
      </p:sp>
      <p:sp>
        <p:nvSpPr>
          <p:cNvPr id="17" name="Shape 15"/>
          <p:cNvSpPr/>
          <p:nvPr/>
        </p:nvSpPr>
        <p:spPr>
          <a:xfrm>
            <a:off x="9692640" y="8046720"/>
            <a:ext cx="7680960" cy="1188720"/>
          </a:xfrm>
          <a:prstGeom prst="roundRect">
            <a:avLst>
              <a:gd name="adj" fmla="val 9231"/>
            </a:avLst>
          </a:prstGeom>
          <a:solidFill>
            <a:schemeClr val="accent4"/>
          </a:solidFill>
          <a:ln/>
        </p:spPr>
      </p:sp>
      <p:sp>
        <p:nvSpPr>
          <p:cNvPr id="18" name="Text 16"/>
          <p:cNvSpPr txBox="1"/>
          <p:nvPr/>
        </p:nvSpPr>
        <p:spPr>
          <a:xfrm>
            <a:off x="9966960" y="8046720"/>
            <a:ext cx="7132320" cy="1188720"/>
          </a:xfrm>
          <a:prstGeom prst="rect">
            <a:avLst/>
          </a:prstGeom>
          <a:noFill/>
          <a:ln/>
        </p:spPr>
        <p:txBody>
          <a:bodyPr wrap="square" lIns="0" tIns="0" rIns="0" bIns="0" rtlCol="0" anchor="ctr"/>
          <a:lstStyle/>
          <a:p>
            <a:pPr indent="0" marL="0">
              <a:buNone/>
            </a:pPr>
            <a:r>
              <a:rPr lang="en-US" sz="2300" dirty="0">
                <a:solidFill>
                  <a:schemeClr val="accent3"/>
                </a:solidFill>
              </a:rPr>
              <a:t>Giữ tỷ lệ chủ đề và loại câu hỏi như bộ gốc, để khảo sát ảnh hưởng của kích thước dữ liệu như một yếu tố riêng.</a:t>
            </a:r>
            <a:endParaRPr lang="en-US" sz="2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3.2 Thiết lập thực nghiệm</a:t>
            </a:r>
            <a:endParaRPr lang="en-US" sz="5000" dirty="0"/>
          </a:p>
        </p:txBody>
      </p:sp>
      <p:sp>
        <p:nvSpPr>
          <p:cNvPr id="3" name="Shape 1"/>
          <p:cNvSpPr/>
          <p:nvPr/>
        </p:nvSpPr>
        <p:spPr>
          <a:xfrm>
            <a:off x="914400" y="1920240"/>
            <a:ext cx="5120640" cy="3383280"/>
          </a:xfrm>
          <a:prstGeom prst="roundRect">
            <a:avLst>
              <a:gd name="adj" fmla="val 3243"/>
            </a:avLst>
          </a:prstGeom>
          <a:solidFill>
            <a:schemeClr val="accent4"/>
          </a:solidFill>
          <a:ln/>
        </p:spPr>
      </p:sp>
      <p:sp>
        <p:nvSpPr>
          <p:cNvPr id="4" name="Text 2"/>
          <p:cNvSpPr txBox="1"/>
          <p:nvPr/>
        </p:nvSpPr>
        <p:spPr>
          <a:xfrm>
            <a:off x="1280160" y="219456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Phân đoạn</a:t>
            </a:r>
            <a:endParaRPr lang="en-US" sz="2400" dirty="0"/>
          </a:p>
        </p:txBody>
      </p:sp>
      <p:sp>
        <p:nvSpPr>
          <p:cNvPr id="5" name="Text 3"/>
          <p:cNvSpPr txBox="1"/>
          <p:nvPr/>
        </p:nvSpPr>
        <p:spPr>
          <a:xfrm>
            <a:off x="1280160" y="2788920"/>
            <a:ext cx="4389120" cy="1143000"/>
          </a:xfrm>
          <a:prstGeom prst="rect">
            <a:avLst/>
          </a:prstGeom>
          <a:noFill/>
          <a:ln/>
        </p:spPr>
        <p:txBody>
          <a:bodyPr wrap="square" lIns="0" tIns="0" rIns="0" bIns="0" rtlCol="0" anchor="t"/>
          <a:lstStyle/>
          <a:p>
            <a:pPr indent="0" marL="0">
              <a:buNone/>
            </a:pPr>
            <a:r>
              <a:rPr lang="en-US" sz="3400" b="1" dirty="0">
                <a:solidFill>
                  <a:schemeClr val="tx1"/>
                </a:solidFill>
              </a:rPr>
              <a:t>1.000 ký tự</a:t>
            </a:r>
            <a:endParaRPr lang="en-US" sz="3400" dirty="0"/>
          </a:p>
        </p:txBody>
      </p:sp>
      <p:sp>
        <p:nvSpPr>
          <p:cNvPr id="6" name="Text 4"/>
          <p:cNvSpPr txBox="1"/>
          <p:nvPr/>
        </p:nvSpPr>
        <p:spPr>
          <a:xfrm>
            <a:off x="1280160" y="406908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Overlap 200 ký tự</a:t>
            </a:r>
            <a:endParaRPr lang="en-US" sz="2400" dirty="0"/>
          </a:p>
        </p:txBody>
      </p:sp>
      <p:sp>
        <p:nvSpPr>
          <p:cNvPr id="7" name="Shape 5"/>
          <p:cNvSpPr/>
          <p:nvPr/>
        </p:nvSpPr>
        <p:spPr>
          <a:xfrm>
            <a:off x="6583680" y="1920240"/>
            <a:ext cx="5120640" cy="3383280"/>
          </a:xfrm>
          <a:prstGeom prst="roundRect">
            <a:avLst>
              <a:gd name="adj" fmla="val 3243"/>
            </a:avLst>
          </a:prstGeom>
          <a:solidFill>
            <a:schemeClr val="accent4"/>
          </a:solidFill>
          <a:ln/>
        </p:spPr>
      </p:sp>
      <p:sp>
        <p:nvSpPr>
          <p:cNvPr id="8" name="Text 6"/>
          <p:cNvSpPr txBox="1"/>
          <p:nvPr/>
        </p:nvSpPr>
        <p:spPr>
          <a:xfrm>
            <a:off x="6949440" y="219456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Embedding</a:t>
            </a:r>
            <a:endParaRPr lang="en-US" sz="2400" dirty="0"/>
          </a:p>
        </p:txBody>
      </p:sp>
      <p:sp>
        <p:nvSpPr>
          <p:cNvPr id="9" name="Text 7"/>
          <p:cNvSpPr txBox="1"/>
          <p:nvPr/>
        </p:nvSpPr>
        <p:spPr>
          <a:xfrm>
            <a:off x="6949440" y="2788920"/>
            <a:ext cx="4389120" cy="1143000"/>
          </a:xfrm>
          <a:prstGeom prst="rect">
            <a:avLst/>
          </a:prstGeom>
          <a:noFill/>
          <a:ln/>
        </p:spPr>
        <p:txBody>
          <a:bodyPr wrap="square" lIns="0" tIns="0" rIns="0" bIns="0" rtlCol="0" anchor="t"/>
          <a:lstStyle/>
          <a:p>
            <a:pPr indent="0" marL="0">
              <a:buNone/>
            </a:pPr>
            <a:r>
              <a:rPr lang="en-US" sz="2600" b="1" dirty="0">
                <a:solidFill>
                  <a:schemeClr val="tx1"/>
                </a:solidFill>
              </a:rPr>
              <a:t>text-embedding-3-large</a:t>
            </a:r>
            <a:endParaRPr lang="en-US" sz="2600" dirty="0"/>
          </a:p>
        </p:txBody>
      </p:sp>
      <p:sp>
        <p:nvSpPr>
          <p:cNvPr id="10" name="Text 8"/>
          <p:cNvSpPr txBox="1"/>
          <p:nvPr/>
        </p:nvSpPr>
        <p:spPr>
          <a:xfrm>
            <a:off x="6949440" y="406908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OpenAI, không gian 3072 chiều</a:t>
            </a:r>
            <a:endParaRPr lang="en-US" sz="2400" dirty="0"/>
          </a:p>
        </p:txBody>
      </p:sp>
      <p:sp>
        <p:nvSpPr>
          <p:cNvPr id="11" name="Shape 9"/>
          <p:cNvSpPr/>
          <p:nvPr/>
        </p:nvSpPr>
        <p:spPr>
          <a:xfrm>
            <a:off x="12252960" y="1920240"/>
            <a:ext cx="5120640" cy="3383280"/>
          </a:xfrm>
          <a:prstGeom prst="roundRect">
            <a:avLst>
              <a:gd name="adj" fmla="val 3243"/>
            </a:avLst>
          </a:prstGeom>
          <a:solidFill>
            <a:schemeClr val="accent4"/>
          </a:solidFill>
          <a:ln/>
        </p:spPr>
      </p:sp>
      <p:sp>
        <p:nvSpPr>
          <p:cNvPr id="12" name="Text 10"/>
          <p:cNvSpPr txBox="1"/>
          <p:nvPr/>
        </p:nvSpPr>
        <p:spPr>
          <a:xfrm>
            <a:off x="12618720" y="219456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Vector database</a:t>
            </a:r>
            <a:endParaRPr lang="en-US" sz="2400" dirty="0"/>
          </a:p>
        </p:txBody>
      </p:sp>
      <p:sp>
        <p:nvSpPr>
          <p:cNvPr id="13" name="Text 11"/>
          <p:cNvSpPr txBox="1"/>
          <p:nvPr/>
        </p:nvSpPr>
        <p:spPr>
          <a:xfrm>
            <a:off x="12618720" y="2788920"/>
            <a:ext cx="4389120" cy="1143000"/>
          </a:xfrm>
          <a:prstGeom prst="rect">
            <a:avLst/>
          </a:prstGeom>
          <a:noFill/>
          <a:ln/>
        </p:spPr>
        <p:txBody>
          <a:bodyPr wrap="square" lIns="0" tIns="0" rIns="0" bIns="0" rtlCol="0" anchor="t"/>
          <a:lstStyle/>
          <a:p>
            <a:pPr indent="0" marL="0">
              <a:buNone/>
            </a:pPr>
            <a:r>
              <a:rPr lang="en-US" sz="3400" b="1" dirty="0">
                <a:solidFill>
                  <a:schemeClr val="tx1"/>
                </a:solidFill>
              </a:rPr>
              <a:t>Milvus</a:t>
            </a:r>
            <a:endParaRPr lang="en-US" sz="3400" dirty="0"/>
          </a:p>
        </p:txBody>
      </p:sp>
      <p:sp>
        <p:nvSpPr>
          <p:cNvPr id="14" name="Text 12"/>
          <p:cNvSpPr txBox="1"/>
          <p:nvPr/>
        </p:nvSpPr>
        <p:spPr>
          <a:xfrm>
            <a:off x="12618720" y="406908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Lưu trữ và lập chỉ mục vector</a:t>
            </a:r>
            <a:endParaRPr lang="en-US" sz="2400" dirty="0"/>
          </a:p>
        </p:txBody>
      </p:sp>
      <p:sp>
        <p:nvSpPr>
          <p:cNvPr id="15" name="Shape 13"/>
          <p:cNvSpPr/>
          <p:nvPr/>
        </p:nvSpPr>
        <p:spPr>
          <a:xfrm>
            <a:off x="914400" y="5486400"/>
            <a:ext cx="5120640" cy="3383280"/>
          </a:xfrm>
          <a:prstGeom prst="roundRect">
            <a:avLst>
              <a:gd name="adj" fmla="val 3243"/>
            </a:avLst>
          </a:prstGeom>
          <a:solidFill>
            <a:schemeClr val="accent4"/>
          </a:solidFill>
          <a:ln/>
        </p:spPr>
      </p:sp>
      <p:sp>
        <p:nvSpPr>
          <p:cNvPr id="16" name="Text 14"/>
          <p:cNvSpPr txBox="1"/>
          <p:nvPr/>
        </p:nvSpPr>
        <p:spPr>
          <a:xfrm>
            <a:off x="1280160" y="576072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Độ sâu truy hồi</a:t>
            </a:r>
            <a:endParaRPr lang="en-US" sz="2400" dirty="0"/>
          </a:p>
        </p:txBody>
      </p:sp>
      <p:sp>
        <p:nvSpPr>
          <p:cNvPr id="17" name="Text 15"/>
          <p:cNvSpPr txBox="1"/>
          <p:nvPr/>
        </p:nvSpPr>
        <p:spPr>
          <a:xfrm>
            <a:off x="1280160" y="6355080"/>
            <a:ext cx="4389120" cy="1143000"/>
          </a:xfrm>
          <a:prstGeom prst="rect">
            <a:avLst/>
          </a:prstGeom>
          <a:noFill/>
          <a:ln/>
        </p:spPr>
        <p:txBody>
          <a:bodyPr wrap="square" lIns="0" tIns="0" rIns="0" bIns="0" rtlCol="0" anchor="t"/>
          <a:lstStyle/>
          <a:p>
            <a:pPr indent="0" marL="0">
              <a:buNone/>
            </a:pPr>
            <a:r>
              <a:rPr lang="en-US" sz="3400" b="1" dirty="0">
                <a:solidFill>
                  <a:schemeClr val="tx1"/>
                </a:solidFill>
              </a:rPr>
              <a:t>top-k = 10</a:t>
            </a:r>
            <a:endParaRPr lang="en-US" sz="3400" dirty="0"/>
          </a:p>
        </p:txBody>
      </p:sp>
      <p:sp>
        <p:nvSpPr>
          <p:cNvPr id="18" name="Text 16"/>
          <p:cNvSpPr txBox="1"/>
          <p:nvPr/>
        </p:nvSpPr>
        <p:spPr>
          <a:xfrm>
            <a:off x="1280160" y="763524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Lấy 10 đoạn tương đồng nhất</a:t>
            </a:r>
            <a:endParaRPr lang="en-US" sz="2400" dirty="0"/>
          </a:p>
        </p:txBody>
      </p:sp>
      <p:sp>
        <p:nvSpPr>
          <p:cNvPr id="19" name="Shape 17"/>
          <p:cNvSpPr/>
          <p:nvPr/>
        </p:nvSpPr>
        <p:spPr>
          <a:xfrm>
            <a:off x="6583680" y="5486400"/>
            <a:ext cx="5120640" cy="3383280"/>
          </a:xfrm>
          <a:prstGeom prst="roundRect">
            <a:avLst>
              <a:gd name="adj" fmla="val 3243"/>
            </a:avLst>
          </a:prstGeom>
          <a:solidFill>
            <a:schemeClr val="accent4"/>
          </a:solidFill>
          <a:ln/>
        </p:spPr>
      </p:sp>
      <p:sp>
        <p:nvSpPr>
          <p:cNvPr id="20" name="Text 18"/>
          <p:cNvSpPr txBox="1"/>
          <p:nvPr/>
        </p:nvSpPr>
        <p:spPr>
          <a:xfrm>
            <a:off x="6949440" y="576072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Mô hình sinh</a:t>
            </a:r>
            <a:endParaRPr lang="en-US" sz="2400" dirty="0"/>
          </a:p>
        </p:txBody>
      </p:sp>
      <p:sp>
        <p:nvSpPr>
          <p:cNvPr id="21" name="Text 19"/>
          <p:cNvSpPr txBox="1"/>
          <p:nvPr/>
        </p:nvSpPr>
        <p:spPr>
          <a:xfrm>
            <a:off x="6949440" y="6355080"/>
            <a:ext cx="4389120" cy="1143000"/>
          </a:xfrm>
          <a:prstGeom prst="rect">
            <a:avLst/>
          </a:prstGeom>
          <a:noFill/>
          <a:ln/>
        </p:spPr>
        <p:txBody>
          <a:bodyPr wrap="square" lIns="0" tIns="0" rIns="0" bIns="0" rtlCol="0" anchor="t"/>
          <a:lstStyle/>
          <a:p>
            <a:pPr indent="0" marL="0">
              <a:buNone/>
            </a:pPr>
            <a:r>
              <a:rPr lang="en-US" sz="3400" b="1" dirty="0">
                <a:solidFill>
                  <a:schemeClr val="tx1"/>
                </a:solidFill>
              </a:rPr>
              <a:t>gpt-4o-mini</a:t>
            </a:r>
            <a:endParaRPr lang="en-US" sz="3400" dirty="0"/>
          </a:p>
        </p:txBody>
      </p:sp>
      <p:sp>
        <p:nvSpPr>
          <p:cNvPr id="22" name="Text 20"/>
          <p:cNvSpPr txBox="1"/>
          <p:nvPr/>
        </p:nvSpPr>
        <p:spPr>
          <a:xfrm>
            <a:off x="6949440" y="763524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Temperature 0, system prompt cố định, tối đa 3 câu</a:t>
            </a:r>
            <a:endParaRPr lang="en-US" sz="2400" dirty="0"/>
          </a:p>
        </p:txBody>
      </p:sp>
      <p:sp>
        <p:nvSpPr>
          <p:cNvPr id="23" name="Shape 21"/>
          <p:cNvSpPr/>
          <p:nvPr/>
        </p:nvSpPr>
        <p:spPr>
          <a:xfrm>
            <a:off x="12252960" y="5486400"/>
            <a:ext cx="5120640" cy="3383280"/>
          </a:xfrm>
          <a:prstGeom prst="roundRect">
            <a:avLst>
              <a:gd name="adj" fmla="val 3243"/>
            </a:avLst>
          </a:prstGeom>
          <a:solidFill>
            <a:schemeClr val="accent4"/>
          </a:solidFill>
          <a:ln/>
        </p:spPr>
      </p:sp>
      <p:sp>
        <p:nvSpPr>
          <p:cNvPr id="24" name="Text 22"/>
          <p:cNvSpPr txBox="1"/>
          <p:nvPr/>
        </p:nvSpPr>
        <p:spPr>
          <a:xfrm>
            <a:off x="12618720" y="5760720"/>
            <a:ext cx="4389120" cy="502920"/>
          </a:xfrm>
          <a:prstGeom prst="rect">
            <a:avLst/>
          </a:prstGeom>
          <a:noFill/>
          <a:ln/>
        </p:spPr>
        <p:txBody>
          <a:bodyPr wrap="square" lIns="0" tIns="0" rIns="0" bIns="0" rtlCol="0" anchor="t"/>
          <a:lstStyle/>
          <a:p>
            <a:pPr indent="0" marL="0">
              <a:buNone/>
            </a:pPr>
            <a:r>
              <a:rPr lang="en-US" sz="2400" b="1" dirty="0">
                <a:solidFill>
                  <a:schemeClr val="accent1"/>
                </a:solidFill>
              </a:rPr>
              <a:t>Triển khai</a:t>
            </a:r>
            <a:endParaRPr lang="en-US" sz="2400" dirty="0"/>
          </a:p>
        </p:txBody>
      </p:sp>
      <p:sp>
        <p:nvSpPr>
          <p:cNvPr id="25" name="Text 23"/>
          <p:cNvSpPr txBox="1"/>
          <p:nvPr/>
        </p:nvSpPr>
        <p:spPr>
          <a:xfrm>
            <a:off x="12618720" y="6355080"/>
            <a:ext cx="4389120" cy="1143000"/>
          </a:xfrm>
          <a:prstGeom prst="rect">
            <a:avLst/>
          </a:prstGeom>
          <a:noFill/>
          <a:ln/>
        </p:spPr>
        <p:txBody>
          <a:bodyPr wrap="square" lIns="0" tIns="0" rIns="0" bIns="0" rtlCol="0" anchor="t"/>
          <a:lstStyle/>
          <a:p>
            <a:pPr indent="0" marL="0">
              <a:buNone/>
            </a:pPr>
            <a:r>
              <a:rPr lang="en-US" sz="3400" b="1" dirty="0">
                <a:solidFill>
                  <a:schemeClr val="tx1"/>
                </a:solidFill>
              </a:rPr>
              <a:t>Python + LangChain</a:t>
            </a:r>
            <a:endParaRPr lang="en-US" sz="3400" dirty="0"/>
          </a:p>
        </p:txBody>
      </p:sp>
      <p:sp>
        <p:nvSpPr>
          <p:cNvPr id="26" name="Text 24"/>
          <p:cNvSpPr txBox="1"/>
          <p:nvPr/>
        </p:nvSpPr>
        <p:spPr>
          <a:xfrm>
            <a:off x="12618720" y="7635240"/>
            <a:ext cx="4389120" cy="1097280"/>
          </a:xfrm>
          <a:prstGeom prst="rect">
            <a:avLst/>
          </a:prstGeom>
          <a:noFill/>
          <a:ln/>
        </p:spPr>
        <p:txBody>
          <a:bodyPr wrap="square" lIns="0" tIns="0" rIns="0" bIns="0" rtlCol="0" anchor="t"/>
          <a:lstStyle/>
          <a:p>
            <a:pPr indent="0" marL="0">
              <a:buNone/>
            </a:pPr>
            <a:r>
              <a:rPr lang="en-US" sz="2400" dirty="0">
                <a:solidFill>
                  <a:schemeClr val="accent3"/>
                </a:solidFill>
              </a:rPr>
              <a:t>CPU 8 nhân, 32 GB RAM, không GPU</a:t>
            </a:r>
            <a:endParaRPr lang="en-US" sz="2400" dirty="0"/>
          </a:p>
        </p:txBody>
      </p:sp>
      <p:sp>
        <p:nvSpPr>
          <p:cNvPr id="27" name="Text 25"/>
          <p:cNvSpPr txBox="1"/>
          <p:nvPr/>
        </p:nvSpPr>
        <p:spPr>
          <a:xfrm>
            <a:off x="914400" y="9098280"/>
            <a:ext cx="16459200" cy="457200"/>
          </a:xfrm>
          <a:prstGeom prst="rect">
            <a:avLst/>
          </a:prstGeom>
          <a:noFill/>
          <a:ln/>
        </p:spPr>
        <p:txBody>
          <a:bodyPr wrap="square" lIns="0" tIns="0" rIns="0" bIns="0" rtlCol="0" anchor="t"/>
          <a:lstStyle/>
          <a:p>
            <a:pPr indent="0" marL="0">
              <a:buNone/>
            </a:pPr>
            <a:r>
              <a:rPr lang="en-US" sz="2900" dirty="0">
                <a:solidFill>
                  <a:schemeClr val="accent3"/>
                </a:solidFill>
              </a:rPr>
              <a:t>Các tham số này được cố định để giảm độ phức tạp tổ hợp.</a:t>
            </a:r>
            <a:endParaRPr lang="en-US" sz="2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3.2 Các yếu tố được khảo sát</a:t>
            </a:r>
            <a:endParaRPr lang="en-US" sz="5000" dirty="0"/>
          </a:p>
        </p:txBody>
      </p:sp>
      <p:sp>
        <p:nvSpPr>
          <p:cNvPr id="3" name="Text 1"/>
          <p:cNvSpPr/>
          <p:nvPr/>
        </p:nvSpPr>
        <p:spPr>
          <a:xfrm>
            <a:off x="914400" y="1920240"/>
            <a:ext cx="3840480" cy="1188720"/>
          </a:xfrm>
          <a:prstGeom prst="roundRect">
            <a:avLst>
              <a:gd name="adj" fmla="val 9231"/>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Lập chỉ mục</a:t>
            </a:r>
            <a:endParaRPr lang="en-US" sz="3400" dirty="0"/>
          </a:p>
        </p:txBody>
      </p:sp>
      <p:sp>
        <p:nvSpPr>
          <p:cNvPr id="4" name="Text 2"/>
          <p:cNvSpPr/>
          <p:nvPr/>
        </p:nvSpPr>
        <p:spPr>
          <a:xfrm>
            <a:off x="914400" y="333756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HNSW</a:t>
            </a:r>
            <a:endParaRPr lang="en-US" sz="3100" dirty="0"/>
          </a:p>
          <a:p>
            <a:pPr algn="l" indent="0" marL="0">
              <a:buNone/>
            </a:pPr>
            <a:r>
              <a:rPr lang="en-US" sz="2400" dirty="0">
                <a:solidFill>
                  <a:schemeClr val="accent3"/>
                </a:solidFill>
              </a:rPr>
              <a:t>Đồ thị phân tầng</a:t>
            </a:r>
            <a:endParaRPr lang="en-US" sz="3100" dirty="0"/>
          </a:p>
        </p:txBody>
      </p:sp>
      <p:sp>
        <p:nvSpPr>
          <p:cNvPr id="5" name="Text 3"/>
          <p:cNvSpPr/>
          <p:nvPr/>
        </p:nvSpPr>
        <p:spPr>
          <a:xfrm>
            <a:off x="914400" y="466344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IVF</a:t>
            </a:r>
            <a:endParaRPr lang="en-US" sz="3100" dirty="0"/>
          </a:p>
          <a:p>
            <a:pPr algn="l" indent="0" marL="0">
              <a:buNone/>
            </a:pPr>
            <a:r>
              <a:rPr lang="en-US" sz="2400" dirty="0">
                <a:solidFill>
                  <a:schemeClr val="accent3"/>
                </a:solidFill>
              </a:rPr>
              <a:t>Inverted file</a:t>
            </a:r>
            <a:endParaRPr lang="en-US" sz="3100" dirty="0"/>
          </a:p>
        </p:txBody>
      </p:sp>
      <p:sp>
        <p:nvSpPr>
          <p:cNvPr id="6" name="Text 4"/>
          <p:cNvSpPr/>
          <p:nvPr/>
        </p:nvSpPr>
        <p:spPr>
          <a:xfrm>
            <a:off x="914400" y="598932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ScaNN</a:t>
            </a:r>
            <a:endParaRPr lang="en-US" sz="3100" dirty="0"/>
          </a:p>
          <a:p>
            <a:pPr algn="l" indent="0" marL="0">
              <a:buNone/>
            </a:pPr>
            <a:r>
              <a:rPr lang="en-US" sz="2400" dirty="0">
                <a:solidFill>
                  <a:schemeClr val="accent3"/>
                </a:solidFill>
              </a:rPr>
              <a:t>Lượng tử hóa vector</a:t>
            </a:r>
            <a:endParaRPr lang="en-US" sz="3100" dirty="0"/>
          </a:p>
        </p:txBody>
      </p:sp>
      <p:sp>
        <p:nvSpPr>
          <p:cNvPr id="7" name="Text 5"/>
          <p:cNvSpPr/>
          <p:nvPr/>
        </p:nvSpPr>
        <p:spPr>
          <a:xfrm>
            <a:off x="5120640" y="1920240"/>
            <a:ext cx="3840480" cy="1188720"/>
          </a:xfrm>
          <a:prstGeom prst="roundRect">
            <a:avLst>
              <a:gd name="adj" fmla="val 9231"/>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Độ đo tương đồng</a:t>
            </a:r>
            <a:endParaRPr lang="en-US" sz="3400" dirty="0"/>
          </a:p>
        </p:txBody>
      </p:sp>
      <p:sp>
        <p:nvSpPr>
          <p:cNvPr id="8" name="Text 6"/>
          <p:cNvSpPr/>
          <p:nvPr/>
        </p:nvSpPr>
        <p:spPr>
          <a:xfrm>
            <a:off x="5120640" y="333756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Cosine</a:t>
            </a:r>
            <a:endParaRPr lang="en-US" sz="3100" dirty="0"/>
          </a:p>
          <a:p>
            <a:pPr algn="l" indent="0" marL="0">
              <a:buNone/>
            </a:pPr>
            <a:r>
              <a:rPr lang="en-US" sz="2400" dirty="0">
                <a:solidFill>
                  <a:schemeClr val="accent3"/>
                </a:solidFill>
              </a:rPr>
              <a:t>Góc giữa hai vector</a:t>
            </a:r>
            <a:endParaRPr lang="en-US" sz="3100" dirty="0"/>
          </a:p>
        </p:txBody>
      </p:sp>
      <p:sp>
        <p:nvSpPr>
          <p:cNvPr id="9" name="Text 7"/>
          <p:cNvSpPr/>
          <p:nvPr/>
        </p:nvSpPr>
        <p:spPr>
          <a:xfrm>
            <a:off x="5120640" y="466344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Inner product</a:t>
            </a:r>
            <a:endParaRPr lang="en-US" sz="3100" dirty="0"/>
          </a:p>
          <a:p>
            <a:pPr algn="l" indent="0" marL="0">
              <a:buNone/>
            </a:pPr>
            <a:r>
              <a:rPr lang="en-US" sz="2400" dirty="0">
                <a:solidFill>
                  <a:schemeClr val="accent3"/>
                </a:solidFill>
              </a:rPr>
              <a:t>Góc và độ lớn</a:t>
            </a:r>
            <a:endParaRPr lang="en-US" sz="3100" dirty="0"/>
          </a:p>
        </p:txBody>
      </p:sp>
      <p:sp>
        <p:nvSpPr>
          <p:cNvPr id="10" name="Text 8"/>
          <p:cNvSpPr/>
          <p:nvPr/>
        </p:nvSpPr>
        <p:spPr>
          <a:xfrm>
            <a:off x="5120640" y="598932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L2</a:t>
            </a:r>
            <a:endParaRPr lang="en-US" sz="3100" dirty="0"/>
          </a:p>
          <a:p>
            <a:pPr algn="l" indent="0" marL="0">
              <a:buNone/>
            </a:pPr>
            <a:r>
              <a:rPr lang="en-US" sz="2400" dirty="0">
                <a:solidFill>
                  <a:schemeClr val="accent3"/>
                </a:solidFill>
              </a:rPr>
              <a:t>Khoảng cách Euclid</a:t>
            </a:r>
            <a:endParaRPr lang="en-US" sz="3100" dirty="0"/>
          </a:p>
        </p:txBody>
      </p:sp>
      <p:sp>
        <p:nvSpPr>
          <p:cNvPr id="11" name="Text 9"/>
          <p:cNvSpPr/>
          <p:nvPr/>
        </p:nvSpPr>
        <p:spPr>
          <a:xfrm>
            <a:off x="9326880" y="1920240"/>
            <a:ext cx="3840480" cy="1188720"/>
          </a:xfrm>
          <a:prstGeom prst="roundRect">
            <a:avLst>
              <a:gd name="adj" fmla="val 9231"/>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Chiến lược truy hồi</a:t>
            </a:r>
            <a:endParaRPr lang="en-US" sz="3400" dirty="0"/>
          </a:p>
        </p:txBody>
      </p:sp>
      <p:sp>
        <p:nvSpPr>
          <p:cNvPr id="12" name="Text 10"/>
          <p:cNvSpPr/>
          <p:nvPr/>
        </p:nvSpPr>
        <p:spPr>
          <a:xfrm>
            <a:off x="9326880" y="333756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Fusion</a:t>
            </a:r>
            <a:endParaRPr lang="en-US" sz="3100" dirty="0"/>
          </a:p>
          <a:p>
            <a:pPr algn="l" indent="0" marL="0">
              <a:buNone/>
            </a:pPr>
            <a:r>
              <a:rPr lang="en-US" sz="2400" dirty="0">
                <a:solidFill>
                  <a:schemeClr val="accent3"/>
                </a:solidFill>
              </a:rPr>
              <a:t>Gộp nhiều nguồn</a:t>
            </a:r>
            <a:endParaRPr lang="en-US" sz="3100" dirty="0"/>
          </a:p>
        </p:txBody>
      </p:sp>
      <p:sp>
        <p:nvSpPr>
          <p:cNvPr id="13" name="Text 11"/>
          <p:cNvSpPr/>
          <p:nvPr/>
        </p:nvSpPr>
        <p:spPr>
          <a:xfrm>
            <a:off x="9326880" y="466344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Hierarchical</a:t>
            </a:r>
            <a:endParaRPr lang="en-US" sz="3100" dirty="0"/>
          </a:p>
          <a:p>
            <a:pPr algn="l" indent="0" marL="0">
              <a:buNone/>
            </a:pPr>
            <a:r>
              <a:rPr lang="en-US" sz="2400" dirty="0">
                <a:solidFill>
                  <a:schemeClr val="accent3"/>
                </a:solidFill>
              </a:rPr>
              <a:t>Từ tài liệu đến đoạn</a:t>
            </a:r>
            <a:endParaRPr lang="en-US" sz="3100" dirty="0"/>
          </a:p>
        </p:txBody>
      </p:sp>
      <p:sp>
        <p:nvSpPr>
          <p:cNvPr id="14" name="Text 12"/>
          <p:cNvSpPr/>
          <p:nvPr/>
        </p:nvSpPr>
        <p:spPr>
          <a:xfrm>
            <a:off x="9326880" y="598932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HyDE</a:t>
            </a:r>
            <a:endParaRPr lang="en-US" sz="3100" dirty="0"/>
          </a:p>
          <a:p>
            <a:pPr algn="l" indent="0" marL="0">
              <a:buNone/>
            </a:pPr>
            <a:r>
              <a:rPr lang="en-US" sz="2400" dirty="0">
                <a:solidFill>
                  <a:schemeClr val="accent3"/>
                </a:solidFill>
              </a:rPr>
              <a:t>Tài liệu giả định</a:t>
            </a:r>
            <a:endParaRPr lang="en-US" sz="3100" dirty="0"/>
          </a:p>
        </p:txBody>
      </p:sp>
      <p:sp>
        <p:nvSpPr>
          <p:cNvPr id="15" name="Text 13"/>
          <p:cNvSpPr/>
          <p:nvPr/>
        </p:nvSpPr>
        <p:spPr>
          <a:xfrm>
            <a:off x="9326880" y="731520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HyPE</a:t>
            </a:r>
            <a:endParaRPr lang="en-US" sz="3100" dirty="0"/>
          </a:p>
          <a:p>
            <a:pPr algn="l" indent="0" marL="0">
              <a:buNone/>
            </a:pPr>
            <a:r>
              <a:rPr lang="en-US" sz="2400" dirty="0">
                <a:solidFill>
                  <a:schemeClr val="accent3"/>
                </a:solidFill>
              </a:rPr>
              <a:t>Đoạn giả định</a:t>
            </a:r>
            <a:endParaRPr lang="en-US" sz="3100" dirty="0"/>
          </a:p>
        </p:txBody>
      </p:sp>
      <p:sp>
        <p:nvSpPr>
          <p:cNvPr id="16" name="Text 14"/>
          <p:cNvSpPr/>
          <p:nvPr/>
        </p:nvSpPr>
        <p:spPr>
          <a:xfrm>
            <a:off x="13533120" y="1920240"/>
            <a:ext cx="3840480" cy="1188720"/>
          </a:xfrm>
          <a:prstGeom prst="roundRect">
            <a:avLst>
              <a:gd name="adj" fmla="val 9231"/>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Reranker</a:t>
            </a:r>
            <a:endParaRPr lang="en-US" sz="3400" dirty="0"/>
          </a:p>
        </p:txBody>
      </p:sp>
      <p:sp>
        <p:nvSpPr>
          <p:cNvPr id="17" name="Text 15"/>
          <p:cNvSpPr/>
          <p:nvPr/>
        </p:nvSpPr>
        <p:spPr>
          <a:xfrm>
            <a:off x="13533120" y="333756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BGE</a:t>
            </a:r>
            <a:endParaRPr lang="en-US" sz="3100" dirty="0"/>
          </a:p>
          <a:p>
            <a:pPr algn="l" indent="0" marL="0">
              <a:buNone/>
            </a:pPr>
            <a:r>
              <a:rPr lang="en-US" sz="2400" dirty="0">
                <a:solidFill>
                  <a:schemeClr val="accent3"/>
                </a:solidFill>
              </a:rPr>
              <a:t>bge-reranker-base</a:t>
            </a:r>
            <a:endParaRPr lang="en-US" sz="3100" dirty="0"/>
          </a:p>
        </p:txBody>
      </p:sp>
      <p:sp>
        <p:nvSpPr>
          <p:cNvPr id="18" name="Text 16"/>
          <p:cNvSpPr/>
          <p:nvPr/>
        </p:nvSpPr>
        <p:spPr>
          <a:xfrm>
            <a:off x="13533120" y="4663440"/>
            <a:ext cx="3840480" cy="1143000"/>
          </a:xfrm>
          <a:prstGeom prst="roundRect">
            <a:avLst>
              <a:gd name="adj" fmla="val 9600"/>
            </a:avLst>
          </a:prstGeom>
          <a:solidFill>
            <a:schemeClr val="accent4"/>
          </a:solidFill>
          <a:ln w="19050">
            <a:solidFill>
              <a:schemeClr val="accent5"/>
            </a:solidFill>
          </a:ln>
        </p:spPr>
        <p:txBody>
          <a:bodyPr wrap="square" lIns="177800" tIns="177800" rIns="177800" bIns="177800" rtlCol="0" anchor="ctr"/>
          <a:lstStyle/>
          <a:p>
            <a:pPr algn="l" indent="0" marL="0">
              <a:buNone/>
            </a:pPr>
            <a:r>
              <a:rPr lang="en-US" sz="3100" b="1" dirty="0">
                <a:solidFill>
                  <a:schemeClr val="tx1"/>
                </a:solidFill>
              </a:rPr>
              <a:t>MiniLM</a:t>
            </a:r>
            <a:endParaRPr lang="en-US" sz="3100" dirty="0"/>
          </a:p>
          <a:p>
            <a:pPr algn="l" indent="0" marL="0">
              <a:buNone/>
            </a:pPr>
            <a:r>
              <a:rPr lang="en-US" sz="2400" dirty="0">
                <a:solidFill>
                  <a:schemeClr val="accent3"/>
                </a:solidFill>
              </a:rPr>
              <a:t>ms-marco-MiniLM-L-6-v2</a:t>
            </a:r>
            <a:endParaRPr lang="en-US" sz="3100" dirty="0"/>
          </a:p>
        </p:txBody>
      </p:sp>
      <p:sp>
        <p:nvSpPr>
          <p:cNvPr id="19" name="Shape 17"/>
          <p:cNvSpPr/>
          <p:nvPr/>
        </p:nvSpPr>
        <p:spPr>
          <a:xfrm>
            <a:off x="914400" y="8732520"/>
            <a:ext cx="16459200" cy="914400"/>
          </a:xfrm>
          <a:prstGeom prst="roundRect">
            <a:avLst>
              <a:gd name="adj" fmla="val 12000"/>
            </a:avLst>
          </a:prstGeom>
          <a:solidFill>
            <a:schemeClr val="accent2"/>
          </a:solidFill>
          <a:ln/>
        </p:spPr>
      </p:sp>
      <p:sp>
        <p:nvSpPr>
          <p:cNvPr id="20" name="Text 18"/>
          <p:cNvSpPr txBox="1"/>
          <p:nvPr/>
        </p:nvSpPr>
        <p:spPr>
          <a:xfrm>
            <a:off x="1280160" y="8732520"/>
            <a:ext cx="15727680" cy="914400"/>
          </a:xfrm>
          <a:prstGeom prst="rect">
            <a:avLst/>
          </a:prstGeom>
          <a:noFill/>
          <a:ln/>
        </p:spPr>
        <p:txBody>
          <a:bodyPr wrap="square" lIns="0" tIns="0" rIns="0" bIns="0" rtlCol="0" anchor="ctr"/>
          <a:lstStyle/>
          <a:p>
            <a:pPr indent="0" marL="0">
              <a:buNone/>
            </a:pPr>
            <a:r>
              <a:rPr lang="en-US" sz="2300" b="1" dirty="0">
                <a:solidFill>
                  <a:schemeClr val="accent1"/>
                </a:solidFill>
              </a:rPr>
              <a:t>Tổ hợp các mức của từng yếu tố theo thiết kế có kiểm soát, cùng yếu tố kích thước dữ liệu.</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3.2 Bốn chiến lược truy hồi</a:t>
            </a:r>
            <a:endParaRPr lang="en-US" sz="5000" dirty="0"/>
          </a:p>
        </p:txBody>
      </p:sp>
      <p:sp>
        <p:nvSpPr>
          <p:cNvPr id="3" name="Shape 1"/>
          <p:cNvSpPr/>
          <p:nvPr/>
        </p:nvSpPr>
        <p:spPr>
          <a:xfrm>
            <a:off x="914400" y="1920240"/>
            <a:ext cx="8046720" cy="3657600"/>
          </a:xfrm>
          <a:prstGeom prst="roundRect">
            <a:avLst>
              <a:gd name="adj" fmla="val 3000"/>
            </a:avLst>
          </a:prstGeom>
          <a:solidFill>
            <a:schemeClr val="accent4"/>
          </a:solidFill>
          <a:ln/>
        </p:spPr>
      </p:sp>
      <p:sp>
        <p:nvSpPr>
          <p:cNvPr id="4" name="Text 2"/>
          <p:cNvSpPr txBox="1"/>
          <p:nvPr/>
        </p:nvSpPr>
        <p:spPr>
          <a:xfrm>
            <a:off x="1325880" y="2240280"/>
            <a:ext cx="7223760" cy="640080"/>
          </a:xfrm>
          <a:prstGeom prst="rect">
            <a:avLst/>
          </a:prstGeom>
          <a:noFill/>
          <a:ln/>
        </p:spPr>
        <p:txBody>
          <a:bodyPr wrap="square" lIns="0" tIns="0" rIns="0" bIns="0" rtlCol="0" anchor="t"/>
          <a:lstStyle/>
          <a:p>
            <a:pPr indent="0" marL="0">
              <a:buNone/>
            </a:pPr>
            <a:r>
              <a:rPr lang="en-US" sz="4100" b="1" dirty="0">
                <a:solidFill>
                  <a:schemeClr val="accent1"/>
                </a:solidFill>
              </a:rPr>
              <a:t>Fusion</a:t>
            </a:r>
            <a:endParaRPr lang="en-US" sz="4100" dirty="0"/>
          </a:p>
        </p:txBody>
      </p:sp>
      <p:sp>
        <p:nvSpPr>
          <p:cNvPr id="5" name="Text 3"/>
          <p:cNvSpPr txBox="1"/>
          <p:nvPr/>
        </p:nvSpPr>
        <p:spPr>
          <a:xfrm>
            <a:off x="1325880" y="3017520"/>
            <a:ext cx="7223760" cy="2377440"/>
          </a:xfrm>
          <a:prstGeom prst="rect">
            <a:avLst/>
          </a:prstGeom>
          <a:noFill/>
          <a:ln/>
        </p:spPr>
        <p:txBody>
          <a:bodyPr wrap="square" lIns="0" tIns="0" rIns="0" bIns="0" rtlCol="0" anchor="t"/>
          <a:lstStyle/>
          <a:p>
            <a:pPr indent="0" marL="0">
              <a:buNone/>
            </a:pPr>
            <a:r>
              <a:rPr lang="en-US" sz="3100" dirty="0">
                <a:solidFill>
                  <a:schemeClr val="tx1"/>
                </a:solidFill>
              </a:rPr>
              <a:t>Kết hợp kết quả từ nhiều chiến lược hoặc biểu diễn truy hồi (cộng có trọng số hoặc theo thứ hạng) để tăng recall tổng thể.</a:t>
            </a:r>
            <a:endParaRPr lang="en-US" sz="3100" dirty="0"/>
          </a:p>
        </p:txBody>
      </p:sp>
      <p:sp>
        <p:nvSpPr>
          <p:cNvPr id="6" name="Shape 4"/>
          <p:cNvSpPr/>
          <p:nvPr/>
        </p:nvSpPr>
        <p:spPr>
          <a:xfrm>
            <a:off x="9326880" y="1920240"/>
            <a:ext cx="8046720" cy="3657600"/>
          </a:xfrm>
          <a:prstGeom prst="roundRect">
            <a:avLst>
              <a:gd name="adj" fmla="val 3000"/>
            </a:avLst>
          </a:prstGeom>
          <a:solidFill>
            <a:schemeClr val="accent4"/>
          </a:solidFill>
          <a:ln/>
        </p:spPr>
      </p:sp>
      <p:sp>
        <p:nvSpPr>
          <p:cNvPr id="7" name="Text 5"/>
          <p:cNvSpPr txBox="1"/>
          <p:nvPr/>
        </p:nvSpPr>
        <p:spPr>
          <a:xfrm>
            <a:off x="9738360" y="2240280"/>
            <a:ext cx="7223760" cy="640080"/>
          </a:xfrm>
          <a:prstGeom prst="rect">
            <a:avLst/>
          </a:prstGeom>
          <a:noFill/>
          <a:ln/>
        </p:spPr>
        <p:txBody>
          <a:bodyPr wrap="square" lIns="0" tIns="0" rIns="0" bIns="0" rtlCol="0" anchor="t"/>
          <a:lstStyle/>
          <a:p>
            <a:pPr indent="0" marL="0">
              <a:buNone/>
            </a:pPr>
            <a:r>
              <a:rPr lang="en-US" sz="4100" b="1" dirty="0">
                <a:solidFill>
                  <a:schemeClr val="accent1"/>
                </a:solidFill>
              </a:rPr>
              <a:t>Hierarchical</a:t>
            </a:r>
            <a:endParaRPr lang="en-US" sz="4100" dirty="0"/>
          </a:p>
        </p:txBody>
      </p:sp>
      <p:sp>
        <p:nvSpPr>
          <p:cNvPr id="8" name="Text 6"/>
          <p:cNvSpPr txBox="1"/>
          <p:nvPr/>
        </p:nvSpPr>
        <p:spPr>
          <a:xfrm>
            <a:off x="9738360" y="3017520"/>
            <a:ext cx="7223760" cy="2377440"/>
          </a:xfrm>
          <a:prstGeom prst="rect">
            <a:avLst/>
          </a:prstGeom>
          <a:noFill/>
          <a:ln/>
        </p:spPr>
        <p:txBody>
          <a:bodyPr wrap="square" lIns="0" tIns="0" rIns="0" bIns="0" rtlCol="0" anchor="t"/>
          <a:lstStyle/>
          <a:p>
            <a:pPr indent="0" marL="0">
              <a:buNone/>
            </a:pPr>
            <a:r>
              <a:rPr lang="en-US" sz="3100" dirty="0">
                <a:solidFill>
                  <a:schemeClr val="tx1"/>
                </a:solidFill>
              </a:rPr>
              <a:t>Truy hồi thô ở cấp tài liệu, rồi truy hồi chi tiết các đoạn trong tài liệu đã chọn, tăng hiệu quả mà vẫn giữ độ chính xác.</a:t>
            </a:r>
            <a:endParaRPr lang="en-US" sz="3100" dirty="0"/>
          </a:p>
        </p:txBody>
      </p:sp>
      <p:sp>
        <p:nvSpPr>
          <p:cNvPr id="9" name="Shape 7"/>
          <p:cNvSpPr/>
          <p:nvPr/>
        </p:nvSpPr>
        <p:spPr>
          <a:xfrm>
            <a:off x="914400" y="5852160"/>
            <a:ext cx="8046720" cy="3657600"/>
          </a:xfrm>
          <a:prstGeom prst="roundRect">
            <a:avLst>
              <a:gd name="adj" fmla="val 3000"/>
            </a:avLst>
          </a:prstGeom>
          <a:solidFill>
            <a:schemeClr val="accent4"/>
          </a:solidFill>
          <a:ln/>
        </p:spPr>
      </p:sp>
      <p:sp>
        <p:nvSpPr>
          <p:cNvPr id="10" name="Text 8"/>
          <p:cNvSpPr txBox="1"/>
          <p:nvPr/>
        </p:nvSpPr>
        <p:spPr>
          <a:xfrm>
            <a:off x="1325880" y="6172200"/>
            <a:ext cx="7223760" cy="640080"/>
          </a:xfrm>
          <a:prstGeom prst="rect">
            <a:avLst/>
          </a:prstGeom>
          <a:noFill/>
          <a:ln/>
        </p:spPr>
        <p:txBody>
          <a:bodyPr wrap="square" lIns="0" tIns="0" rIns="0" bIns="0" rtlCol="0" anchor="t"/>
          <a:lstStyle/>
          <a:p>
            <a:pPr indent="0" marL="0">
              <a:buNone/>
            </a:pPr>
            <a:r>
              <a:rPr lang="en-US" sz="4100" b="1" dirty="0">
                <a:solidFill>
                  <a:schemeClr val="accent1"/>
                </a:solidFill>
              </a:rPr>
              <a:t>HyDE</a:t>
            </a:r>
            <a:endParaRPr lang="en-US" sz="4100" dirty="0"/>
          </a:p>
        </p:txBody>
      </p:sp>
      <p:sp>
        <p:nvSpPr>
          <p:cNvPr id="11" name="Text 9"/>
          <p:cNvSpPr txBox="1"/>
          <p:nvPr/>
        </p:nvSpPr>
        <p:spPr>
          <a:xfrm>
            <a:off x="1325880" y="6949440"/>
            <a:ext cx="7223760" cy="2377440"/>
          </a:xfrm>
          <a:prstGeom prst="rect">
            <a:avLst/>
          </a:prstGeom>
          <a:noFill/>
          <a:ln/>
        </p:spPr>
        <p:txBody>
          <a:bodyPr wrap="square" lIns="0" tIns="0" rIns="0" bIns="0" rtlCol="0" anchor="t"/>
          <a:lstStyle/>
          <a:p>
            <a:pPr indent="0" marL="0">
              <a:buNone/>
            </a:pPr>
            <a:r>
              <a:rPr lang="en-US" sz="3100" dirty="0">
                <a:solidFill>
                  <a:schemeClr val="tx1"/>
                </a:solidFill>
              </a:rPr>
              <a:t>Sinh một tài liệu giả định từ câu hỏi và dùng embedding của nó làm truy vấn. Phù hợp zero-shot, ít phụ thuộc cách diễn đạt.</a:t>
            </a:r>
            <a:endParaRPr lang="en-US" sz="3100" dirty="0"/>
          </a:p>
        </p:txBody>
      </p:sp>
      <p:sp>
        <p:nvSpPr>
          <p:cNvPr id="12" name="Shape 10"/>
          <p:cNvSpPr/>
          <p:nvPr/>
        </p:nvSpPr>
        <p:spPr>
          <a:xfrm>
            <a:off x="9326880" y="5852160"/>
            <a:ext cx="8046720" cy="3657600"/>
          </a:xfrm>
          <a:prstGeom prst="roundRect">
            <a:avLst>
              <a:gd name="adj" fmla="val 3000"/>
            </a:avLst>
          </a:prstGeom>
          <a:solidFill>
            <a:schemeClr val="accent4"/>
          </a:solidFill>
          <a:ln/>
        </p:spPr>
      </p:sp>
      <p:sp>
        <p:nvSpPr>
          <p:cNvPr id="13" name="Text 11"/>
          <p:cNvSpPr txBox="1"/>
          <p:nvPr/>
        </p:nvSpPr>
        <p:spPr>
          <a:xfrm>
            <a:off x="9738360" y="6172200"/>
            <a:ext cx="7223760" cy="640080"/>
          </a:xfrm>
          <a:prstGeom prst="rect">
            <a:avLst/>
          </a:prstGeom>
          <a:noFill/>
          <a:ln/>
        </p:spPr>
        <p:txBody>
          <a:bodyPr wrap="square" lIns="0" tIns="0" rIns="0" bIns="0" rtlCol="0" anchor="t"/>
          <a:lstStyle/>
          <a:p>
            <a:pPr indent="0" marL="0">
              <a:buNone/>
            </a:pPr>
            <a:r>
              <a:rPr lang="en-US" sz="4100" b="1" dirty="0">
                <a:solidFill>
                  <a:schemeClr val="accent1"/>
                </a:solidFill>
              </a:rPr>
              <a:t>HyPE</a:t>
            </a:r>
            <a:endParaRPr lang="en-US" sz="4100" dirty="0"/>
          </a:p>
        </p:txBody>
      </p:sp>
      <p:sp>
        <p:nvSpPr>
          <p:cNvPr id="14" name="Text 12"/>
          <p:cNvSpPr txBox="1"/>
          <p:nvPr/>
        </p:nvSpPr>
        <p:spPr>
          <a:xfrm>
            <a:off x="9738360" y="6949440"/>
            <a:ext cx="7223760" cy="2377440"/>
          </a:xfrm>
          <a:prstGeom prst="rect">
            <a:avLst/>
          </a:prstGeom>
          <a:noFill/>
          <a:ln/>
        </p:spPr>
        <p:txBody>
          <a:bodyPr wrap="square" lIns="0" tIns="0" rIns="0" bIns="0" rtlCol="0" anchor="t"/>
          <a:lstStyle/>
          <a:p>
            <a:pPr indent="0" marL="0">
              <a:buNone/>
            </a:pPr>
            <a:r>
              <a:rPr lang="en-US" sz="3100" dirty="0">
                <a:solidFill>
                  <a:schemeClr val="tx1"/>
                </a:solidFill>
              </a:rPr>
              <a:t>Sinh một đoạn giả định đại diện cho câu trả lời lý tưởng và dùng embedding của nó làm truy vấn, giúp khớp ngữ nghĩa tốt hơn.</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3.3 Công cụ thống kê</a:t>
            </a:r>
            <a:endParaRPr lang="en-US" sz="5000" dirty="0"/>
          </a:p>
        </p:txBody>
      </p:sp>
      <p:sp>
        <p:nvSpPr>
          <p:cNvPr id="3" name="Shape 1"/>
          <p:cNvSpPr/>
          <p:nvPr/>
        </p:nvSpPr>
        <p:spPr>
          <a:xfrm>
            <a:off x="914400" y="1920240"/>
            <a:ext cx="5120640" cy="7680960"/>
          </a:xfrm>
          <a:prstGeom prst="roundRect">
            <a:avLst>
              <a:gd name="adj" fmla="val 2143"/>
            </a:avLst>
          </a:prstGeom>
          <a:solidFill>
            <a:schemeClr val="accent4"/>
          </a:solidFill>
          <a:ln/>
        </p:spPr>
      </p:sp>
      <p:sp>
        <p:nvSpPr>
          <p:cNvPr id="4" name="Text 2"/>
          <p:cNvSpPr txBox="1"/>
          <p:nvPr/>
        </p:nvSpPr>
        <p:spPr>
          <a:xfrm>
            <a:off x="1280160" y="214884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ANOVA</a:t>
            </a:r>
            <a:endParaRPr lang="en-US" sz="3800" dirty="0"/>
          </a:p>
        </p:txBody>
      </p:sp>
      <p:sp>
        <p:nvSpPr>
          <p:cNvPr id="5" name="Text 3"/>
          <p:cNvSpPr txBox="1"/>
          <p:nvPr/>
        </p:nvSpPr>
        <p:spPr>
          <a:xfrm>
            <a:off x="1280160" y="3566160"/>
            <a:ext cx="4389120" cy="1554480"/>
          </a:xfrm>
          <a:prstGeom prst="rect">
            <a:avLst/>
          </a:prstGeom>
          <a:noFill/>
          <a:ln/>
        </p:spPr>
        <p:txBody>
          <a:bodyPr wrap="square" lIns="0" tIns="0" rIns="0" bIns="0" rtlCol="0" anchor="t"/>
          <a:lstStyle/>
          <a:p>
            <a:pPr indent="0" marL="0">
              <a:buNone/>
            </a:pPr>
            <a:r>
              <a:rPr lang="en-US" sz="3100" i="1" dirty="0">
                <a:solidFill>
                  <a:schemeClr val="tx1"/>
                </a:solidFill>
              </a:rPr>
              <a:t>Khác biệt hiệu năng là thật hay chỉ ngẫu nhiên?</a:t>
            </a:r>
            <a:endParaRPr lang="en-US" sz="3100" dirty="0"/>
          </a:p>
        </p:txBody>
      </p:sp>
      <p:sp>
        <p:nvSpPr>
          <p:cNvPr id="6" name="Text 4"/>
          <p:cNvSpPr/>
          <p:nvPr/>
        </p:nvSpPr>
        <p:spPr>
          <a:xfrm>
            <a:off x="1280160" y="5257800"/>
            <a:ext cx="4389120" cy="1554480"/>
          </a:xfrm>
          <a:prstGeom prst="roundRect">
            <a:avLst>
              <a:gd name="adj" fmla="val 7059"/>
            </a:avLst>
          </a:prstGeom>
          <a:solidFill>
            <a:schemeClr val="accent2"/>
          </a:solidFill>
          <a:ln/>
        </p:spPr>
        <p:txBody>
          <a:bodyPr wrap="square" lIns="177800" tIns="177800" rIns="177800" bIns="17780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F = phương sai giữa nhóm / phương sai trong nhóm</a:t>
            </a:r>
            <a:endParaRPr lang="en-US" sz="2400" dirty="0"/>
          </a:p>
        </p:txBody>
      </p:sp>
      <p:sp>
        <p:nvSpPr>
          <p:cNvPr id="7" name="Text 5"/>
          <p:cNvSpPr txBox="1"/>
          <p:nvPr/>
        </p:nvSpPr>
        <p:spPr>
          <a:xfrm>
            <a:off x="1280160" y="6995160"/>
            <a:ext cx="4389120" cy="2468880"/>
          </a:xfrm>
          <a:prstGeom prst="rect">
            <a:avLst/>
          </a:prstGeom>
          <a:noFill/>
          <a:ln/>
        </p:spPr>
        <p:txBody>
          <a:bodyPr wrap="square" lIns="0" tIns="0" rIns="0" bIns="0" rtlCol="0" anchor="t"/>
          <a:lstStyle/>
          <a:p>
            <a:pPr indent="0" marL="0">
              <a:buNone/>
            </a:pPr>
            <a:r>
              <a:rPr lang="en-US" sz="3100" dirty="0">
                <a:solidFill>
                  <a:schemeClr val="tx1"/>
                </a:solidFill>
              </a:rPr>
              <a:t>Một chiều và đa yếu tố, dựa trên F-statistic và p-value.</a:t>
            </a:r>
            <a:endParaRPr lang="en-US" sz="3100" dirty="0"/>
          </a:p>
        </p:txBody>
      </p:sp>
      <p:sp>
        <p:nvSpPr>
          <p:cNvPr id="8" name="Shape 6"/>
          <p:cNvSpPr/>
          <p:nvPr/>
        </p:nvSpPr>
        <p:spPr>
          <a:xfrm>
            <a:off x="6583680" y="1920240"/>
            <a:ext cx="5120640" cy="7680960"/>
          </a:xfrm>
          <a:prstGeom prst="roundRect">
            <a:avLst>
              <a:gd name="adj" fmla="val 2143"/>
            </a:avLst>
          </a:prstGeom>
          <a:solidFill>
            <a:schemeClr val="accent4"/>
          </a:solidFill>
          <a:ln/>
        </p:spPr>
      </p:sp>
      <p:sp>
        <p:nvSpPr>
          <p:cNvPr id="9" name="Text 7"/>
          <p:cNvSpPr txBox="1"/>
          <p:nvPr/>
        </p:nvSpPr>
        <p:spPr>
          <a:xfrm>
            <a:off x="6949440" y="214884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Kích thước hiệu ứng η²</a:t>
            </a:r>
            <a:endParaRPr lang="en-US" sz="3800" dirty="0"/>
          </a:p>
        </p:txBody>
      </p:sp>
      <p:sp>
        <p:nvSpPr>
          <p:cNvPr id="10" name="Text 8"/>
          <p:cNvSpPr txBox="1"/>
          <p:nvPr/>
        </p:nvSpPr>
        <p:spPr>
          <a:xfrm>
            <a:off x="6949440" y="3566160"/>
            <a:ext cx="4389120" cy="1554480"/>
          </a:xfrm>
          <a:prstGeom prst="rect">
            <a:avLst/>
          </a:prstGeom>
          <a:noFill/>
          <a:ln/>
        </p:spPr>
        <p:txBody>
          <a:bodyPr wrap="square" lIns="0" tIns="0" rIns="0" bIns="0" rtlCol="0" anchor="t"/>
          <a:lstStyle/>
          <a:p>
            <a:pPr indent="0" marL="0">
              <a:buNone/>
            </a:pPr>
            <a:r>
              <a:rPr lang="en-US" sz="3100" i="1" dirty="0">
                <a:solidFill>
                  <a:schemeClr val="tx1"/>
                </a:solidFill>
              </a:rPr>
              <a:t>Ảnh hưởng lớn đến mức nào trong thực tế?</a:t>
            </a:r>
            <a:endParaRPr lang="en-US" sz="3100" dirty="0"/>
          </a:p>
        </p:txBody>
      </p:sp>
      <p:sp>
        <p:nvSpPr>
          <p:cNvPr id="11" name="Text 9"/>
          <p:cNvSpPr/>
          <p:nvPr/>
        </p:nvSpPr>
        <p:spPr>
          <a:xfrm>
            <a:off x="6949440" y="5257800"/>
            <a:ext cx="4389120" cy="1554480"/>
          </a:xfrm>
          <a:prstGeom prst="roundRect">
            <a:avLst>
              <a:gd name="adj" fmla="val 7059"/>
            </a:avLst>
          </a:prstGeom>
          <a:solidFill>
            <a:schemeClr val="accent2"/>
          </a:solidFill>
          <a:ln/>
        </p:spPr>
        <p:txBody>
          <a:bodyPr wrap="square" lIns="177800" tIns="177800" rIns="177800" bIns="17780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η² = SS_yếu_tố / SS_tổng</a:t>
            </a:r>
            <a:endParaRPr lang="en-US" sz="2400" dirty="0"/>
          </a:p>
        </p:txBody>
      </p:sp>
      <p:sp>
        <p:nvSpPr>
          <p:cNvPr id="12" name="Text 10"/>
          <p:cNvSpPr txBox="1"/>
          <p:nvPr/>
        </p:nvSpPr>
        <p:spPr>
          <a:xfrm>
            <a:off x="6949440" y="6995160"/>
            <a:ext cx="4389120" cy="2468880"/>
          </a:xfrm>
          <a:prstGeom prst="rect">
            <a:avLst/>
          </a:prstGeom>
          <a:noFill/>
          <a:ln/>
        </p:spPr>
        <p:txBody>
          <a:bodyPr wrap="square" lIns="0" tIns="0" rIns="0" bIns="0" rtlCol="0" anchor="t"/>
          <a:lstStyle/>
          <a:p>
            <a:pPr indent="0" marL="0">
              <a:buNone/>
            </a:pPr>
            <a:r>
              <a:rPr lang="en-US" sz="3100" dirty="0">
                <a:solidFill>
                  <a:schemeClr val="tx1"/>
                </a:solidFill>
              </a:rPr>
              <a:t>Tránh hiểu nhầm p-value cực nhỏ do cỡ mẫu lớn là ảnh hưởng lớn.</a:t>
            </a:r>
            <a:endParaRPr lang="en-US" sz="3100" dirty="0"/>
          </a:p>
        </p:txBody>
      </p:sp>
      <p:sp>
        <p:nvSpPr>
          <p:cNvPr id="13" name="Shape 11"/>
          <p:cNvSpPr/>
          <p:nvPr/>
        </p:nvSpPr>
        <p:spPr>
          <a:xfrm>
            <a:off x="12252960" y="1920240"/>
            <a:ext cx="5120640" cy="7680960"/>
          </a:xfrm>
          <a:prstGeom prst="roundRect">
            <a:avLst>
              <a:gd name="adj" fmla="val 2143"/>
            </a:avLst>
          </a:prstGeom>
          <a:solidFill>
            <a:schemeClr val="accent4"/>
          </a:solidFill>
          <a:ln/>
        </p:spPr>
      </p:sp>
      <p:sp>
        <p:nvSpPr>
          <p:cNvPr id="14" name="Text 12"/>
          <p:cNvSpPr txBox="1"/>
          <p:nvPr/>
        </p:nvSpPr>
        <p:spPr>
          <a:xfrm>
            <a:off x="12618720" y="2148840"/>
            <a:ext cx="4389120" cy="1325880"/>
          </a:xfrm>
          <a:prstGeom prst="rect">
            <a:avLst/>
          </a:prstGeom>
          <a:noFill/>
          <a:ln/>
        </p:spPr>
        <p:txBody>
          <a:bodyPr wrap="square" lIns="0" tIns="0" rIns="0" bIns="0" rtlCol="0" anchor="t"/>
          <a:lstStyle/>
          <a:p>
            <a:pPr indent="0" marL="0">
              <a:buNone/>
            </a:pPr>
            <a:r>
              <a:rPr lang="en-US" sz="3800" b="1" dirty="0">
                <a:solidFill>
                  <a:schemeClr val="accent1"/>
                </a:solidFill>
              </a:rPr>
              <a:t>Hồi quy tuyến tính đa biến</a:t>
            </a:r>
            <a:endParaRPr lang="en-US" sz="3800" dirty="0"/>
          </a:p>
        </p:txBody>
      </p:sp>
      <p:sp>
        <p:nvSpPr>
          <p:cNvPr id="15" name="Text 13"/>
          <p:cNvSpPr txBox="1"/>
          <p:nvPr/>
        </p:nvSpPr>
        <p:spPr>
          <a:xfrm>
            <a:off x="12618720" y="3566160"/>
            <a:ext cx="4389120" cy="1554480"/>
          </a:xfrm>
          <a:prstGeom prst="rect">
            <a:avLst/>
          </a:prstGeom>
          <a:noFill/>
          <a:ln/>
        </p:spPr>
        <p:txBody>
          <a:bodyPr wrap="square" lIns="0" tIns="0" rIns="0" bIns="0" rtlCol="0" anchor="t"/>
          <a:lstStyle/>
          <a:p>
            <a:pPr indent="0" marL="0">
              <a:buNone/>
            </a:pPr>
            <a:r>
              <a:rPr lang="en-US" sz="3100" i="1" dirty="0">
                <a:solidFill>
                  <a:schemeClr val="tx1"/>
                </a:solidFill>
              </a:rPr>
              <a:t>Mỗi lựa chọn cụ thể làm tăng hay giảm hiệu năng?</a:t>
            </a:r>
            <a:endParaRPr lang="en-US" sz="3100" dirty="0"/>
          </a:p>
        </p:txBody>
      </p:sp>
      <p:sp>
        <p:nvSpPr>
          <p:cNvPr id="16" name="Text 14"/>
          <p:cNvSpPr/>
          <p:nvPr/>
        </p:nvSpPr>
        <p:spPr>
          <a:xfrm>
            <a:off x="12618720" y="5257800"/>
            <a:ext cx="4389120" cy="1554480"/>
          </a:xfrm>
          <a:prstGeom prst="roundRect">
            <a:avLst>
              <a:gd name="adj" fmla="val 7059"/>
            </a:avLst>
          </a:prstGeom>
          <a:solidFill>
            <a:schemeClr val="accent2"/>
          </a:solidFill>
          <a:ln/>
        </p:spPr>
        <p:txBody>
          <a:bodyPr wrap="square" lIns="177800" tIns="177800" rIns="177800" bIns="177800" rtlCol="0" anchor="ctr"/>
          <a:lstStyle/>
          <a:p>
            <a:pPr algn="ctr" indent="0" marL="0">
              <a:buNone/>
            </a:pPr>
            <a:r>
              <a:rPr lang="en-US" sz="2400" b="1" dirty="0">
                <a:solidFill>
                  <a:schemeClr val="accent1"/>
                </a:solidFill>
                <a:latin typeface="Courier New" pitchFamily="34" charset="0"/>
                <a:ea typeface="Courier New" pitchFamily="34" charset="-122"/>
                <a:cs typeface="Courier New" pitchFamily="34" charset="-120"/>
              </a:rPr>
              <a:t>y = β0 + Σ βj·xj + ε</a:t>
            </a:r>
            <a:endParaRPr lang="en-US" sz="2400" dirty="0"/>
          </a:p>
        </p:txBody>
      </p:sp>
      <p:sp>
        <p:nvSpPr>
          <p:cNvPr id="17" name="Text 15"/>
          <p:cNvSpPr txBox="1"/>
          <p:nvPr/>
        </p:nvSpPr>
        <p:spPr>
          <a:xfrm>
            <a:off x="12618720" y="6995160"/>
            <a:ext cx="4389120" cy="2468880"/>
          </a:xfrm>
          <a:prstGeom prst="rect">
            <a:avLst/>
          </a:prstGeom>
          <a:noFill/>
          <a:ln/>
        </p:spPr>
        <p:txBody>
          <a:bodyPr wrap="square" lIns="0" tIns="0" rIns="0" bIns="0" rtlCol="0" anchor="t"/>
          <a:lstStyle/>
          <a:p>
            <a:pPr indent="0" marL="0">
              <a:buNone/>
            </a:pPr>
            <a:r>
              <a:rPr lang="en-US" sz="3100" dirty="0">
                <a:solidFill>
                  <a:schemeClr val="tx1"/>
                </a:solidFill>
              </a:rPr>
              <a:t>Ước lượng chiều hướng và độ lớn từng mức (vd. L2), kiểm soát các yếu tố còn lại.</a:t>
            </a:r>
            <a:endParaRPr lang="en-US" sz="3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3.4 Các độ đo đánh giá</a:t>
            </a:r>
            <a:endParaRPr lang="en-US" sz="5000" dirty="0"/>
          </a:p>
        </p:txBody>
      </p:sp>
      <p:sp>
        <p:nvSpPr>
          <p:cNvPr id="3" name="Text 1"/>
          <p:cNvSpPr/>
          <p:nvPr/>
        </p:nvSpPr>
        <p:spPr>
          <a:xfrm>
            <a:off x="914400" y="1920240"/>
            <a:ext cx="640080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Truy hồi và tái xếp hạng</a:t>
            </a:r>
            <a:endParaRPr lang="en-US" sz="3400" dirty="0"/>
          </a:p>
        </p:txBody>
      </p:sp>
      <p:sp>
        <p:nvSpPr>
          <p:cNvPr id="4" name="Shape 2"/>
          <p:cNvSpPr/>
          <p:nvPr/>
        </p:nvSpPr>
        <p:spPr>
          <a:xfrm>
            <a:off x="914400" y="2926080"/>
            <a:ext cx="6400800" cy="5577840"/>
          </a:xfrm>
          <a:prstGeom prst="roundRect">
            <a:avLst>
              <a:gd name="adj" fmla="val 1967"/>
            </a:avLst>
          </a:prstGeom>
          <a:solidFill>
            <a:schemeClr val="accent4"/>
          </a:solidFill>
          <a:ln/>
        </p:spPr>
      </p:sp>
      <p:sp>
        <p:nvSpPr>
          <p:cNvPr id="5" name="Text 3"/>
          <p:cNvSpPr txBox="1"/>
          <p:nvPr/>
        </p:nvSpPr>
        <p:spPr>
          <a:xfrm>
            <a:off x="1234440" y="3154680"/>
            <a:ext cx="5760720" cy="5212080"/>
          </a:xfrm>
          <a:prstGeom prst="rect">
            <a:avLst/>
          </a:prstGeom>
          <a:noFill/>
          <a:ln/>
        </p:spPr>
        <p:txBody>
          <a:bodyPr wrap="square" lIns="0" tIns="0" rIns="0" bIns="0" rtlCol="0" anchor="t"/>
          <a:lstStyle/>
          <a:p>
            <a:pPr indent="0" marL="0">
              <a:buNone/>
            </a:pPr>
            <a:r>
              <a:rPr lang="en-US" sz="2600" b="1" dirty="0">
                <a:solidFill>
                  <a:schemeClr val="accent1"/>
                </a:solidFill>
              </a:rPr>
              <a:t>Recall@1 (R@1)</a:t>
            </a:r>
            <a:endParaRPr lang="en-US" sz="3400" dirty="0"/>
          </a:p>
          <a:p>
            <a:pPr indent="0" marL="0">
              <a:spcAft>
                <a:spcPts val="1400"/>
              </a:spcAft>
              <a:buNone/>
            </a:pPr>
            <a:r>
              <a:rPr lang="en-US" sz="2400" dirty="0">
                <a:solidFill>
                  <a:schemeClr val="tx1"/>
                </a:solidFill>
              </a:rPr>
              <a:t>Tài liệu đúng có ở vị trí đầu tiên không</a:t>
            </a:r>
            <a:endParaRPr lang="en-US" sz="3400" dirty="0"/>
          </a:p>
          <a:p>
            <a:pPr indent="0" marL="0">
              <a:buNone/>
            </a:pPr>
            <a:r>
              <a:rPr lang="en-US" sz="2600" b="1" dirty="0">
                <a:solidFill>
                  <a:schemeClr val="accent1"/>
                </a:solidFill>
              </a:rPr>
              <a:t>MRR</a:t>
            </a:r>
            <a:endParaRPr lang="en-US" sz="3400" dirty="0"/>
          </a:p>
          <a:p>
            <a:pPr indent="0" marL="0">
              <a:spcAft>
                <a:spcPts val="1400"/>
              </a:spcAft>
              <a:buNone/>
            </a:pPr>
            <a:r>
              <a:rPr lang="en-US" sz="2400" dirty="0">
                <a:solidFill>
                  <a:schemeClr val="tx1"/>
                </a:solidFill>
              </a:rPr>
              <a:t>Vị trí trung bình nghịch đảo của kết quả đúng</a:t>
            </a:r>
            <a:endParaRPr lang="en-US" sz="3400" dirty="0"/>
          </a:p>
          <a:p>
            <a:pPr indent="0" marL="0">
              <a:buNone/>
            </a:pPr>
            <a:r>
              <a:rPr lang="en-US" sz="2600" b="1" dirty="0">
                <a:solidFill>
                  <a:schemeClr val="accent1"/>
                </a:solidFill>
              </a:rPr>
              <a:t>nDCG@1</a:t>
            </a:r>
            <a:endParaRPr lang="en-US" sz="3400" dirty="0"/>
          </a:p>
          <a:p>
            <a:pPr indent="0" marL="0">
              <a:spcAft>
                <a:spcPts val="1400"/>
              </a:spcAft>
              <a:buNone/>
            </a:pPr>
            <a:r>
              <a:rPr lang="en-US" sz="2400" dirty="0">
                <a:solidFill>
                  <a:schemeClr val="tx1"/>
                </a:solidFill>
              </a:rPr>
              <a:t>Chất lượng xếp hạng có trọng số vị trí</a:t>
            </a:r>
            <a:endParaRPr lang="en-US" sz="3400" dirty="0"/>
          </a:p>
          <a:p>
            <a:pPr indent="0" marL="0">
              <a:buNone/>
            </a:pPr>
            <a:r>
              <a:rPr lang="en-US" sz="2600" b="1" dirty="0">
                <a:solidFill>
                  <a:schemeClr val="accent1"/>
                </a:solidFill>
              </a:rPr>
              <a:t>Coverage</a:t>
            </a:r>
            <a:endParaRPr lang="en-US" sz="3400" dirty="0"/>
          </a:p>
          <a:p>
            <a:pPr indent="0" marL="0">
              <a:spcAft>
                <a:spcPts val="1400"/>
              </a:spcAft>
              <a:buNone/>
            </a:pPr>
            <a:r>
              <a:rPr lang="en-US" sz="2400" dirty="0">
                <a:solidFill>
                  <a:schemeClr val="tx1"/>
                </a:solidFill>
              </a:rPr>
              <a:t>Tỷ lệ truy vấn tìm được ít nhất một tài liệu liên quan</a:t>
            </a:r>
            <a:endParaRPr lang="en-US" sz="3400" dirty="0"/>
          </a:p>
        </p:txBody>
      </p:sp>
      <p:sp>
        <p:nvSpPr>
          <p:cNvPr id="6" name="Text 4"/>
          <p:cNvSpPr/>
          <p:nvPr/>
        </p:nvSpPr>
        <p:spPr>
          <a:xfrm>
            <a:off x="7498080" y="1920240"/>
            <a:ext cx="548640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Sinh văn bản</a:t>
            </a:r>
            <a:endParaRPr lang="en-US" sz="3400" dirty="0"/>
          </a:p>
        </p:txBody>
      </p:sp>
      <p:sp>
        <p:nvSpPr>
          <p:cNvPr id="7" name="Shape 5"/>
          <p:cNvSpPr/>
          <p:nvPr/>
        </p:nvSpPr>
        <p:spPr>
          <a:xfrm>
            <a:off x="7498080" y="2926080"/>
            <a:ext cx="5486400" cy="5577840"/>
          </a:xfrm>
          <a:prstGeom prst="roundRect">
            <a:avLst>
              <a:gd name="adj" fmla="val 2000"/>
            </a:avLst>
          </a:prstGeom>
          <a:solidFill>
            <a:schemeClr val="accent4"/>
          </a:solidFill>
          <a:ln/>
        </p:spPr>
      </p:sp>
      <p:sp>
        <p:nvSpPr>
          <p:cNvPr id="8" name="Text 6"/>
          <p:cNvSpPr txBox="1"/>
          <p:nvPr/>
        </p:nvSpPr>
        <p:spPr>
          <a:xfrm>
            <a:off x="7818120" y="3154680"/>
            <a:ext cx="4846320" cy="5212080"/>
          </a:xfrm>
          <a:prstGeom prst="rect">
            <a:avLst/>
          </a:prstGeom>
          <a:noFill/>
          <a:ln/>
        </p:spPr>
        <p:txBody>
          <a:bodyPr wrap="square" lIns="0" tIns="0" rIns="0" bIns="0" rtlCol="0" anchor="t"/>
          <a:lstStyle/>
          <a:p>
            <a:pPr indent="0" marL="0">
              <a:buNone/>
            </a:pPr>
            <a:r>
              <a:rPr lang="en-US" sz="2600" b="1" dirty="0">
                <a:solidFill>
                  <a:schemeClr val="accent1"/>
                </a:solidFill>
              </a:rPr>
              <a:t>Correctness</a:t>
            </a:r>
            <a:endParaRPr lang="en-US" sz="3400" dirty="0"/>
          </a:p>
          <a:p>
            <a:pPr indent="0" marL="0">
              <a:spcAft>
                <a:spcPts val="1400"/>
              </a:spcAft>
              <a:buNone/>
            </a:pPr>
            <a:r>
              <a:rPr lang="en-US" sz="2400" dirty="0">
                <a:solidFill>
                  <a:schemeClr val="tx1"/>
                </a:solidFill>
              </a:rPr>
              <a:t>Độ chính xác của thông tin</a:t>
            </a:r>
            <a:endParaRPr lang="en-US" sz="3400" dirty="0"/>
          </a:p>
          <a:p>
            <a:pPr indent="0" marL="0">
              <a:buNone/>
            </a:pPr>
            <a:r>
              <a:rPr lang="en-US" sz="2600" b="1" dirty="0">
                <a:solidFill>
                  <a:schemeClr val="accent1"/>
                </a:solidFill>
              </a:rPr>
              <a:t>Faithfulness</a:t>
            </a:r>
            <a:endParaRPr lang="en-US" sz="3400" dirty="0"/>
          </a:p>
          <a:p>
            <a:pPr indent="0" marL="0">
              <a:spcAft>
                <a:spcPts val="1400"/>
              </a:spcAft>
              <a:buNone/>
            </a:pPr>
            <a:r>
              <a:rPr lang="en-US" sz="2400" dirty="0">
                <a:solidFill>
                  <a:schemeClr val="tx1"/>
                </a:solidFill>
              </a:rPr>
              <a:t>Mức bám sát ngữ cảnh truy xuất, phản ánh hallucination</a:t>
            </a:r>
            <a:endParaRPr lang="en-US" sz="3400" dirty="0"/>
          </a:p>
          <a:p>
            <a:pPr indent="0" marL="0">
              <a:buNone/>
            </a:pPr>
            <a:r>
              <a:rPr lang="en-US" sz="2600" b="1" dirty="0">
                <a:solidFill>
                  <a:schemeClr val="accent1"/>
                </a:solidFill>
              </a:rPr>
              <a:t>Relevance</a:t>
            </a:r>
            <a:endParaRPr lang="en-US" sz="3400" dirty="0"/>
          </a:p>
          <a:p>
            <a:pPr indent="0" marL="0">
              <a:spcAft>
                <a:spcPts val="1400"/>
              </a:spcAft>
              <a:buNone/>
            </a:pPr>
            <a:r>
              <a:rPr lang="en-US" sz="2400" dirty="0">
                <a:solidFill>
                  <a:schemeClr val="tx1"/>
                </a:solidFill>
              </a:rPr>
              <a:t>Đáp ứng đúng ý định câu hỏi</a:t>
            </a:r>
            <a:endParaRPr lang="en-US" sz="3400" dirty="0"/>
          </a:p>
        </p:txBody>
      </p:sp>
      <p:sp>
        <p:nvSpPr>
          <p:cNvPr id="9" name="Text 7"/>
          <p:cNvSpPr/>
          <p:nvPr/>
        </p:nvSpPr>
        <p:spPr>
          <a:xfrm>
            <a:off x="13167360" y="1920240"/>
            <a:ext cx="420624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400" b="1" dirty="0">
                <a:solidFill>
                  <a:schemeClr val="bg1"/>
                </a:solidFill>
              </a:rPr>
              <a:t>Hiệu suất</a:t>
            </a:r>
            <a:endParaRPr lang="en-US" sz="3400" dirty="0"/>
          </a:p>
        </p:txBody>
      </p:sp>
      <p:sp>
        <p:nvSpPr>
          <p:cNvPr id="10" name="Shape 8"/>
          <p:cNvSpPr/>
          <p:nvPr/>
        </p:nvSpPr>
        <p:spPr>
          <a:xfrm>
            <a:off x="13167360" y="2926080"/>
            <a:ext cx="4206240" cy="5577840"/>
          </a:xfrm>
          <a:prstGeom prst="roundRect">
            <a:avLst>
              <a:gd name="adj" fmla="val 2609"/>
            </a:avLst>
          </a:prstGeom>
          <a:solidFill>
            <a:schemeClr val="accent4"/>
          </a:solidFill>
          <a:ln/>
        </p:spPr>
      </p:sp>
      <p:sp>
        <p:nvSpPr>
          <p:cNvPr id="11" name="Text 9"/>
          <p:cNvSpPr txBox="1"/>
          <p:nvPr/>
        </p:nvSpPr>
        <p:spPr>
          <a:xfrm>
            <a:off x="13487400" y="3154680"/>
            <a:ext cx="3566160" cy="5212080"/>
          </a:xfrm>
          <a:prstGeom prst="rect">
            <a:avLst/>
          </a:prstGeom>
          <a:noFill/>
          <a:ln/>
        </p:spPr>
        <p:txBody>
          <a:bodyPr wrap="square" lIns="0" tIns="0" rIns="0" bIns="0" rtlCol="0" anchor="t"/>
          <a:lstStyle/>
          <a:p>
            <a:pPr indent="0" marL="0">
              <a:buNone/>
            </a:pPr>
            <a:r>
              <a:rPr lang="en-US" sz="2600" b="1" dirty="0">
                <a:solidFill>
                  <a:schemeClr val="accent1"/>
                </a:solidFill>
              </a:rPr>
              <a:t>Latency</a:t>
            </a:r>
            <a:endParaRPr lang="en-US" sz="3400" dirty="0"/>
          </a:p>
          <a:p>
            <a:pPr indent="0" marL="0">
              <a:spcAft>
                <a:spcPts val="1400"/>
              </a:spcAft>
              <a:buNone/>
            </a:pPr>
            <a:r>
              <a:rPr lang="en-US" sz="2400" dirty="0">
                <a:solidFill>
                  <a:schemeClr val="tx1"/>
                </a:solidFill>
              </a:rPr>
              <a:t>Giây từ lúc nhận truy vấn đến khi có câu trả lời</a:t>
            </a:r>
            <a:endParaRPr lang="en-US" sz="3400" dirty="0"/>
          </a:p>
          <a:p>
            <a:pPr indent="0" marL="0">
              <a:buNone/>
            </a:pPr>
            <a:r>
              <a:rPr lang="en-US" sz="2600" b="1" dirty="0">
                <a:solidFill>
                  <a:schemeClr val="accent1"/>
                </a:solidFill>
              </a:rPr>
              <a:t>Cost</a:t>
            </a:r>
            <a:endParaRPr lang="en-US" sz="3400" dirty="0"/>
          </a:p>
          <a:p>
            <a:pPr indent="0" marL="0">
              <a:spcAft>
                <a:spcPts val="1400"/>
              </a:spcAft>
              <a:buNone/>
            </a:pPr>
            <a:r>
              <a:rPr lang="en-US" sz="2400" dirty="0">
                <a:solidFill>
                  <a:schemeClr val="tx1"/>
                </a:solidFill>
              </a:rPr>
              <a:t>Chi phí API trung bình mỗi truy vấn</a:t>
            </a:r>
            <a:endParaRPr lang="en-US" sz="3400" dirty="0"/>
          </a:p>
        </p:txBody>
      </p:sp>
      <p:sp>
        <p:nvSpPr>
          <p:cNvPr id="12" name="Shape 10"/>
          <p:cNvSpPr/>
          <p:nvPr/>
        </p:nvSpPr>
        <p:spPr>
          <a:xfrm>
            <a:off x="914400" y="8686800"/>
            <a:ext cx="16459200" cy="914400"/>
          </a:xfrm>
          <a:prstGeom prst="roundRect">
            <a:avLst>
              <a:gd name="adj" fmla="val 12000"/>
            </a:avLst>
          </a:prstGeom>
          <a:solidFill>
            <a:schemeClr val="accent2"/>
          </a:solidFill>
          <a:ln/>
        </p:spPr>
      </p:sp>
      <p:sp>
        <p:nvSpPr>
          <p:cNvPr id="13" name="Text 11"/>
          <p:cNvSpPr txBox="1"/>
          <p:nvPr/>
        </p:nvSpPr>
        <p:spPr>
          <a:xfrm>
            <a:off x="1280160" y="8686800"/>
            <a:ext cx="15727680" cy="914400"/>
          </a:xfrm>
          <a:prstGeom prst="rect">
            <a:avLst/>
          </a:prstGeom>
          <a:noFill/>
          <a:ln/>
        </p:spPr>
        <p:txBody>
          <a:bodyPr wrap="square" lIns="0" tIns="0" rIns="0" bIns="0" rtlCol="0" anchor="ctr"/>
          <a:lstStyle/>
          <a:p>
            <a:pPr indent="0" marL="0">
              <a:buNone/>
            </a:pPr>
            <a:r>
              <a:rPr lang="en-US" sz="2400" b="1" dirty="0">
                <a:solidFill>
                  <a:schemeClr val="accent6"/>
                </a:solidFill>
              </a:rPr>
              <a:t>Lưu ý: bài báo không mô tả rõ cơ chế chấm Correctness, Faithfulness, Relevance.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4.1 Mức độ ảnh hưởng của thành phần</a:t>
            </a:r>
            <a:endParaRPr lang="en-US" sz="5000" dirty="0"/>
          </a:p>
        </p:txBody>
      </p:sp>
      <p:sp>
        <p:nvSpPr>
          <p:cNvPr id="3" name="Shape 1"/>
          <p:cNvSpPr/>
          <p:nvPr/>
        </p:nvSpPr>
        <p:spPr>
          <a:xfrm>
            <a:off x="914400" y="1920240"/>
            <a:ext cx="8778240" cy="1508760"/>
          </a:xfrm>
          <a:prstGeom prst="roundRect">
            <a:avLst>
              <a:gd name="adj" fmla="val 7273"/>
            </a:avLst>
          </a:prstGeom>
          <a:solidFill>
            <a:schemeClr val="accent1"/>
          </a:solidFill>
          <a:ln/>
        </p:spPr>
      </p:sp>
      <p:sp>
        <p:nvSpPr>
          <p:cNvPr id="4" name="Text 2"/>
          <p:cNvSpPr txBox="1"/>
          <p:nvPr/>
        </p:nvSpPr>
        <p:spPr>
          <a:xfrm>
            <a:off x="1234440" y="1920240"/>
            <a:ext cx="640080" cy="1508760"/>
          </a:xfrm>
          <a:prstGeom prst="rect">
            <a:avLst/>
          </a:prstGeom>
          <a:noFill/>
          <a:ln/>
        </p:spPr>
        <p:txBody>
          <a:bodyPr wrap="square" lIns="0" tIns="0" rIns="0" bIns="0" rtlCol="0" anchor="ctr"/>
          <a:lstStyle/>
          <a:p>
            <a:pPr indent="0" marL="0">
              <a:buNone/>
            </a:pPr>
            <a:r>
              <a:rPr lang="en-US" sz="4800" b="1" dirty="0">
                <a:solidFill>
                  <a:schemeClr val="bg1"/>
                </a:solidFill>
              </a:rPr>
              <a:t>1</a:t>
            </a:r>
            <a:endParaRPr lang="en-US" sz="4800" dirty="0"/>
          </a:p>
        </p:txBody>
      </p:sp>
      <p:sp>
        <p:nvSpPr>
          <p:cNvPr id="5" name="Text 3"/>
          <p:cNvSpPr txBox="1"/>
          <p:nvPr/>
        </p:nvSpPr>
        <p:spPr>
          <a:xfrm>
            <a:off x="2103120" y="1920240"/>
            <a:ext cx="7315200" cy="1508760"/>
          </a:xfrm>
          <a:prstGeom prst="rect">
            <a:avLst/>
          </a:prstGeom>
          <a:noFill/>
          <a:ln/>
        </p:spPr>
        <p:txBody>
          <a:bodyPr wrap="square" lIns="0" tIns="0" rIns="0" bIns="0" rtlCol="0" anchor="ctr"/>
          <a:lstStyle/>
          <a:p>
            <a:pPr indent="0" marL="0">
              <a:buNone/>
            </a:pPr>
            <a:r>
              <a:rPr lang="en-US" sz="3600" b="1" dirty="0">
                <a:solidFill>
                  <a:schemeClr val="bg1"/>
                </a:solidFill>
              </a:rPr>
              <a:t>Chiến lược truy hồi</a:t>
            </a:r>
            <a:endParaRPr lang="en-US" sz="3400" dirty="0"/>
          </a:p>
          <a:p>
            <a:pPr indent="0" marL="0">
              <a:buNone/>
            </a:pPr>
            <a:r>
              <a:rPr lang="en-US" sz="2900" dirty="0">
                <a:solidFill>
                  <a:schemeClr val="bg1"/>
                </a:solidFill>
              </a:rPr>
              <a:t>Ảnh hưởng cao nhất</a:t>
            </a:r>
            <a:endParaRPr lang="en-US" sz="3400" dirty="0"/>
          </a:p>
        </p:txBody>
      </p:sp>
      <p:sp>
        <p:nvSpPr>
          <p:cNvPr id="6" name="Shape 4"/>
          <p:cNvSpPr/>
          <p:nvPr/>
        </p:nvSpPr>
        <p:spPr>
          <a:xfrm>
            <a:off x="914400" y="3703320"/>
            <a:ext cx="8778240" cy="1508760"/>
          </a:xfrm>
          <a:prstGeom prst="roundRect">
            <a:avLst>
              <a:gd name="adj" fmla="val 7273"/>
            </a:avLst>
          </a:prstGeom>
          <a:solidFill>
            <a:schemeClr val="accent5"/>
          </a:solidFill>
          <a:ln/>
        </p:spPr>
      </p:sp>
      <p:sp>
        <p:nvSpPr>
          <p:cNvPr id="7" name="Text 5"/>
          <p:cNvSpPr txBox="1"/>
          <p:nvPr/>
        </p:nvSpPr>
        <p:spPr>
          <a:xfrm>
            <a:off x="1234440" y="3703320"/>
            <a:ext cx="640080" cy="1508760"/>
          </a:xfrm>
          <a:prstGeom prst="rect">
            <a:avLst/>
          </a:prstGeom>
          <a:noFill/>
          <a:ln/>
        </p:spPr>
        <p:txBody>
          <a:bodyPr wrap="square" lIns="0" tIns="0" rIns="0" bIns="0" rtlCol="0" anchor="ctr"/>
          <a:lstStyle/>
          <a:p>
            <a:pPr indent="0" marL="0">
              <a:buNone/>
            </a:pPr>
            <a:r>
              <a:rPr lang="en-US" sz="4800" b="1" dirty="0">
                <a:solidFill>
                  <a:schemeClr val="tx1"/>
                </a:solidFill>
              </a:rPr>
              <a:t>2</a:t>
            </a:r>
            <a:endParaRPr lang="en-US" sz="4800" dirty="0"/>
          </a:p>
        </p:txBody>
      </p:sp>
      <p:sp>
        <p:nvSpPr>
          <p:cNvPr id="8" name="Text 6"/>
          <p:cNvSpPr txBox="1"/>
          <p:nvPr/>
        </p:nvSpPr>
        <p:spPr>
          <a:xfrm>
            <a:off x="2103120" y="3703320"/>
            <a:ext cx="7315200" cy="1508760"/>
          </a:xfrm>
          <a:prstGeom prst="rect">
            <a:avLst/>
          </a:prstGeom>
          <a:noFill/>
          <a:ln/>
        </p:spPr>
        <p:txBody>
          <a:bodyPr wrap="square" lIns="0" tIns="0" rIns="0" bIns="0" rtlCol="0" anchor="ctr"/>
          <a:lstStyle/>
          <a:p>
            <a:pPr indent="0" marL="0">
              <a:buNone/>
            </a:pPr>
            <a:r>
              <a:rPr lang="en-US" sz="3600" b="1" dirty="0">
                <a:solidFill>
                  <a:schemeClr val="tx1"/>
                </a:solidFill>
              </a:rPr>
              <a:t>Độ đo tương đồng</a:t>
            </a:r>
            <a:endParaRPr lang="en-US" sz="3400" dirty="0"/>
          </a:p>
          <a:p>
            <a:pPr indent="0" marL="0">
              <a:buNone/>
            </a:pPr>
            <a:r>
              <a:rPr lang="en-US" sz="2900" dirty="0">
                <a:solidFill>
                  <a:schemeClr val="tx1"/>
                </a:solidFill>
              </a:rPr>
              <a:t>Ảnh hưởng lớn</a:t>
            </a:r>
            <a:endParaRPr lang="en-US" sz="3400" dirty="0"/>
          </a:p>
        </p:txBody>
      </p:sp>
      <p:sp>
        <p:nvSpPr>
          <p:cNvPr id="9" name="Shape 7"/>
          <p:cNvSpPr/>
          <p:nvPr/>
        </p:nvSpPr>
        <p:spPr>
          <a:xfrm>
            <a:off x="914400" y="5486400"/>
            <a:ext cx="8778240" cy="1508760"/>
          </a:xfrm>
          <a:prstGeom prst="roundRect">
            <a:avLst>
              <a:gd name="adj" fmla="val 7273"/>
            </a:avLst>
          </a:prstGeom>
          <a:solidFill>
            <a:schemeClr val="accent2"/>
          </a:solidFill>
          <a:ln/>
        </p:spPr>
      </p:sp>
      <p:sp>
        <p:nvSpPr>
          <p:cNvPr id="10" name="Text 8"/>
          <p:cNvSpPr txBox="1"/>
          <p:nvPr/>
        </p:nvSpPr>
        <p:spPr>
          <a:xfrm>
            <a:off x="1234440" y="5486400"/>
            <a:ext cx="640080" cy="1508760"/>
          </a:xfrm>
          <a:prstGeom prst="rect">
            <a:avLst/>
          </a:prstGeom>
          <a:noFill/>
          <a:ln/>
        </p:spPr>
        <p:txBody>
          <a:bodyPr wrap="square" lIns="0" tIns="0" rIns="0" bIns="0" rtlCol="0" anchor="ctr"/>
          <a:lstStyle/>
          <a:p>
            <a:pPr indent="0" marL="0">
              <a:buNone/>
            </a:pPr>
            <a:r>
              <a:rPr lang="en-US" sz="4800" b="1" dirty="0">
                <a:solidFill>
                  <a:schemeClr val="tx1"/>
                </a:solidFill>
              </a:rPr>
              <a:t>3</a:t>
            </a:r>
            <a:endParaRPr lang="en-US" sz="4800" dirty="0"/>
          </a:p>
        </p:txBody>
      </p:sp>
      <p:sp>
        <p:nvSpPr>
          <p:cNvPr id="11" name="Text 9"/>
          <p:cNvSpPr txBox="1"/>
          <p:nvPr/>
        </p:nvSpPr>
        <p:spPr>
          <a:xfrm>
            <a:off x="2103120" y="5486400"/>
            <a:ext cx="7315200" cy="1508760"/>
          </a:xfrm>
          <a:prstGeom prst="rect">
            <a:avLst/>
          </a:prstGeom>
          <a:noFill/>
          <a:ln/>
        </p:spPr>
        <p:txBody>
          <a:bodyPr wrap="square" lIns="0" tIns="0" rIns="0" bIns="0" rtlCol="0" anchor="ctr"/>
          <a:lstStyle/>
          <a:p>
            <a:pPr indent="0" marL="0">
              <a:buNone/>
            </a:pPr>
            <a:r>
              <a:rPr lang="en-US" sz="3600" b="1" dirty="0">
                <a:solidFill>
                  <a:schemeClr val="tx1"/>
                </a:solidFill>
              </a:rPr>
              <a:t>Reranker</a:t>
            </a:r>
            <a:endParaRPr lang="en-US" sz="3400" dirty="0"/>
          </a:p>
          <a:p>
            <a:pPr indent="0" marL="0">
              <a:buNone/>
            </a:pPr>
            <a:r>
              <a:rPr lang="en-US" sz="2900" dirty="0">
                <a:solidFill>
                  <a:schemeClr val="accent3"/>
                </a:solidFill>
              </a:rPr>
              <a:t>Mức trung bình</a:t>
            </a:r>
            <a:endParaRPr lang="en-US" sz="3400" dirty="0"/>
          </a:p>
        </p:txBody>
      </p:sp>
      <p:sp>
        <p:nvSpPr>
          <p:cNvPr id="12" name="Shape 10"/>
          <p:cNvSpPr/>
          <p:nvPr/>
        </p:nvSpPr>
        <p:spPr>
          <a:xfrm>
            <a:off x="914400" y="7269480"/>
            <a:ext cx="8778240" cy="1508760"/>
          </a:xfrm>
          <a:prstGeom prst="roundRect">
            <a:avLst>
              <a:gd name="adj" fmla="val 7273"/>
            </a:avLst>
          </a:prstGeom>
          <a:solidFill>
            <a:schemeClr val="accent4"/>
          </a:solidFill>
          <a:ln/>
        </p:spPr>
      </p:sp>
      <p:sp>
        <p:nvSpPr>
          <p:cNvPr id="13" name="Text 11"/>
          <p:cNvSpPr txBox="1"/>
          <p:nvPr/>
        </p:nvSpPr>
        <p:spPr>
          <a:xfrm>
            <a:off x="1234440" y="7269480"/>
            <a:ext cx="640080" cy="1508760"/>
          </a:xfrm>
          <a:prstGeom prst="rect">
            <a:avLst/>
          </a:prstGeom>
          <a:noFill/>
          <a:ln/>
        </p:spPr>
        <p:txBody>
          <a:bodyPr wrap="square" lIns="0" tIns="0" rIns="0" bIns="0" rtlCol="0" anchor="ctr"/>
          <a:lstStyle/>
          <a:p>
            <a:pPr indent="0" marL="0">
              <a:buNone/>
            </a:pPr>
            <a:r>
              <a:rPr lang="en-US" sz="4800" b="1" dirty="0">
                <a:solidFill>
                  <a:schemeClr val="tx1"/>
                </a:solidFill>
              </a:rPr>
              <a:t>4</a:t>
            </a:r>
            <a:endParaRPr lang="en-US" sz="4800" dirty="0"/>
          </a:p>
        </p:txBody>
      </p:sp>
      <p:sp>
        <p:nvSpPr>
          <p:cNvPr id="14" name="Text 12"/>
          <p:cNvSpPr txBox="1"/>
          <p:nvPr/>
        </p:nvSpPr>
        <p:spPr>
          <a:xfrm>
            <a:off x="2103120" y="7269480"/>
            <a:ext cx="7315200" cy="1508760"/>
          </a:xfrm>
          <a:prstGeom prst="rect">
            <a:avLst/>
          </a:prstGeom>
          <a:noFill/>
          <a:ln/>
        </p:spPr>
        <p:txBody>
          <a:bodyPr wrap="square" lIns="0" tIns="0" rIns="0" bIns="0" rtlCol="0" anchor="ctr"/>
          <a:lstStyle/>
          <a:p>
            <a:pPr indent="0" marL="0">
              <a:buNone/>
            </a:pPr>
            <a:r>
              <a:rPr lang="en-US" sz="3600" b="1" dirty="0">
                <a:solidFill>
                  <a:schemeClr val="tx1"/>
                </a:solidFill>
              </a:rPr>
              <a:t>Lập chỉ mục</a:t>
            </a:r>
            <a:endParaRPr lang="en-US" sz="3400" dirty="0"/>
          </a:p>
          <a:p>
            <a:pPr indent="0" marL="0">
              <a:buNone/>
            </a:pPr>
            <a:r>
              <a:rPr lang="en-US" sz="2900" dirty="0">
                <a:solidFill>
                  <a:schemeClr val="accent3"/>
                </a:solidFill>
              </a:rPr>
              <a:t>Không đáng kể</a:t>
            </a:r>
            <a:endParaRPr lang="en-US" sz="3400" dirty="0"/>
          </a:p>
        </p:txBody>
      </p:sp>
      <p:sp>
        <p:nvSpPr>
          <p:cNvPr id="15" name="Text 13"/>
          <p:cNvSpPr txBox="1"/>
          <p:nvPr/>
        </p:nvSpPr>
        <p:spPr>
          <a:xfrm>
            <a:off x="914400" y="9098280"/>
            <a:ext cx="8778240" cy="457200"/>
          </a:xfrm>
          <a:prstGeom prst="rect">
            <a:avLst/>
          </a:prstGeom>
          <a:noFill/>
          <a:ln/>
        </p:spPr>
        <p:txBody>
          <a:bodyPr wrap="square" lIns="0" tIns="0" rIns="0" bIns="0" rtlCol="0" anchor="t"/>
          <a:lstStyle/>
          <a:p>
            <a:pPr indent="0" marL="0">
              <a:buNone/>
            </a:pPr>
            <a:r>
              <a:rPr lang="en-US" sz="2600" dirty="0">
                <a:solidFill>
                  <a:schemeClr val="accent3"/>
                </a:solidFill>
              </a:rPr>
              <a:t>Xếp hạng theo η² trên Coverage và Correctness</a:t>
            </a:r>
            <a:endParaRPr lang="en-US" sz="2600" dirty="0"/>
          </a:p>
        </p:txBody>
      </p:sp>
      <p:sp>
        <p:nvSpPr>
          <p:cNvPr id="16" name="Text 14"/>
          <p:cNvSpPr/>
          <p:nvPr/>
        </p:nvSpPr>
        <p:spPr>
          <a:xfrm>
            <a:off x="9966960" y="1920240"/>
            <a:ext cx="7406640" cy="7040880"/>
          </a:xfrm>
          <a:prstGeom prst="roundRect">
            <a:avLst>
              <a:gd name="adj" fmla="val 1558"/>
            </a:avLst>
          </a:prstGeom>
          <a:solidFill>
            <a:schemeClr val="bg1"/>
          </a:solidFill>
          <a:ln w="31750">
            <a:solidFill>
              <a:schemeClr val="accent5"/>
            </a:solidFill>
            <a:prstDash val="dash"/>
          </a:ln>
        </p:spPr>
        <p:txBody>
          <a:bodyPr wrap="square" lIns="254000" tIns="254000" rIns="254000" bIns="254000" rtlCol="0" anchor="ctr"/>
          <a:lstStyle/>
          <a:p>
            <a:pPr algn="ctr" indent="0" marL="0">
              <a:buNone/>
            </a:pPr>
            <a:r>
              <a:rPr lang="en-US" sz="3400" b="1" dirty="0">
                <a:solidFill>
                  <a:schemeClr val="accent3"/>
                </a:solidFill>
              </a:rPr>
              <a:t>[ Chèn Table 7 ]</a:t>
            </a:r>
            <a:endParaRPr lang="en-US" sz="3400" dirty="0"/>
          </a:p>
          <a:p>
            <a:pPr algn="ctr" indent="0" marL="0">
              <a:buNone/>
            </a:pPr>
            <a:r>
              <a:rPr lang="en-US" sz="2800" dirty="0">
                <a:solidFill>
                  <a:schemeClr val="accent3"/>
                </a:solidFill>
              </a:rPr>
              <a:t>Kích thước hiệu ứng η² theo từng yếu tố</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4.1 Retriever và độ đo tương đồng</a:t>
            </a:r>
            <a:endParaRPr lang="en-US" sz="5000" dirty="0"/>
          </a:p>
        </p:txBody>
      </p:sp>
      <p:sp>
        <p:nvSpPr>
          <p:cNvPr id="3" name="Text 1"/>
          <p:cNvSpPr/>
          <p:nvPr/>
        </p:nvSpPr>
        <p:spPr>
          <a:xfrm>
            <a:off x="914400" y="1920240"/>
            <a:ext cx="804672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600" b="1" dirty="0">
                <a:solidFill>
                  <a:schemeClr val="bg1"/>
                </a:solidFill>
              </a:rPr>
              <a:t>Chiến lược truy hồi</a:t>
            </a:r>
            <a:endParaRPr lang="en-US" sz="3600" dirty="0"/>
          </a:p>
        </p:txBody>
      </p:sp>
      <p:sp>
        <p:nvSpPr>
          <p:cNvPr id="4" name="Text 2"/>
          <p:cNvSpPr txBox="1"/>
          <p:nvPr/>
        </p:nvSpPr>
        <p:spPr>
          <a:xfrm>
            <a:off x="1005840" y="3063240"/>
            <a:ext cx="7863840" cy="2286000"/>
          </a:xfrm>
          <a:prstGeom prst="rect">
            <a:avLst/>
          </a:prstGeom>
          <a:noFill/>
          <a:ln/>
        </p:spPr>
        <p:txBody>
          <a:bodyPr wrap="square" lIns="0" tIns="0" rIns="0" bIns="0" rtlCol="0" anchor="t"/>
          <a:lstStyle/>
          <a:p>
            <a:pPr indent="0" marL="0">
              <a:buNone/>
            </a:pPr>
            <a:r>
              <a:rPr lang="en-US" sz="3100" dirty="0">
                <a:solidFill>
                  <a:schemeClr val="tx1"/>
                </a:solidFill>
              </a:rPr>
              <a:t>HyPE cho kết quả tốt nhất trên mọi độ đo, đồng thời chi phí và latency thấp nhất. Fusion và Hierarchical kém hơn rõ rệt.</a:t>
            </a:r>
            <a:endParaRPr lang="en-US" sz="3100" dirty="0"/>
          </a:p>
        </p:txBody>
      </p:sp>
      <p:sp>
        <p:nvSpPr>
          <p:cNvPr id="5" name="Text 3"/>
          <p:cNvSpPr/>
          <p:nvPr/>
        </p:nvSpPr>
        <p:spPr>
          <a:xfrm>
            <a:off x="914400" y="5486400"/>
            <a:ext cx="8046720" cy="4023360"/>
          </a:xfrm>
          <a:prstGeom prst="roundRect">
            <a:avLst>
              <a:gd name="adj" fmla="val 2727"/>
            </a:avLst>
          </a:prstGeom>
          <a:solidFill>
            <a:schemeClr val="bg1"/>
          </a:solidFill>
          <a:ln w="31750">
            <a:solidFill>
              <a:schemeClr val="accent5"/>
            </a:solidFill>
            <a:prstDash val="dash"/>
          </a:ln>
        </p:spPr>
        <p:txBody>
          <a:bodyPr wrap="square" lIns="254000" tIns="254000" rIns="254000" bIns="254000" rtlCol="0" anchor="ctr"/>
          <a:lstStyle/>
          <a:p>
            <a:pPr algn="ctr" indent="0" marL="0">
              <a:buNone/>
            </a:pPr>
            <a:r>
              <a:rPr lang="en-US" sz="3400" b="1" dirty="0">
                <a:solidFill>
                  <a:schemeClr val="accent3"/>
                </a:solidFill>
              </a:rPr>
              <a:t>[ Chèn Table 3 ]</a:t>
            </a:r>
            <a:endParaRPr lang="en-US" sz="3400" dirty="0"/>
          </a:p>
          <a:p>
            <a:pPr algn="ctr" indent="0" marL="0">
              <a:buNone/>
            </a:pPr>
            <a:r>
              <a:rPr lang="en-US" sz="2800" dirty="0">
                <a:solidFill>
                  <a:schemeClr val="accent3"/>
                </a:solidFill>
              </a:rPr>
              <a:t>So sánh bốn chiến lược truy hồi</a:t>
            </a:r>
            <a:endParaRPr lang="en-US" sz="3400" dirty="0"/>
          </a:p>
        </p:txBody>
      </p:sp>
      <p:sp>
        <p:nvSpPr>
          <p:cNvPr id="6" name="Text 4"/>
          <p:cNvSpPr/>
          <p:nvPr/>
        </p:nvSpPr>
        <p:spPr>
          <a:xfrm>
            <a:off x="9326880" y="1920240"/>
            <a:ext cx="804672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600" b="1" dirty="0">
                <a:solidFill>
                  <a:schemeClr val="bg1"/>
                </a:solidFill>
              </a:rPr>
              <a:t>Độ đo tương đồng</a:t>
            </a:r>
            <a:endParaRPr lang="en-US" sz="3600" dirty="0"/>
          </a:p>
        </p:txBody>
      </p:sp>
      <p:sp>
        <p:nvSpPr>
          <p:cNvPr id="7" name="Text 5"/>
          <p:cNvSpPr txBox="1"/>
          <p:nvPr/>
        </p:nvSpPr>
        <p:spPr>
          <a:xfrm>
            <a:off x="9418320" y="3063240"/>
            <a:ext cx="7863840" cy="2286000"/>
          </a:xfrm>
          <a:prstGeom prst="rect">
            <a:avLst/>
          </a:prstGeom>
          <a:noFill/>
          <a:ln/>
        </p:spPr>
        <p:txBody>
          <a:bodyPr wrap="square" lIns="0" tIns="0" rIns="0" bIns="0" rtlCol="0" anchor="t"/>
          <a:lstStyle/>
          <a:p>
            <a:pPr indent="0" marL="0">
              <a:buNone/>
            </a:pPr>
            <a:r>
              <a:rPr lang="en-US" sz="3100" dirty="0">
                <a:solidFill>
                  <a:schemeClr val="tx1"/>
                </a:solidFill>
              </a:rPr>
              <a:t>Inner product và cosine gần tương đương, vượt trội hẳn L2 trên mọi độ đo; L2 còn làm giảm Coverage.</a:t>
            </a:r>
            <a:endParaRPr lang="en-US" sz="3100" dirty="0"/>
          </a:p>
        </p:txBody>
      </p:sp>
      <p:sp>
        <p:nvSpPr>
          <p:cNvPr id="8" name="Text 6"/>
          <p:cNvSpPr/>
          <p:nvPr/>
        </p:nvSpPr>
        <p:spPr>
          <a:xfrm>
            <a:off x="9326880" y="5486400"/>
            <a:ext cx="8046720" cy="4023360"/>
          </a:xfrm>
          <a:prstGeom prst="roundRect">
            <a:avLst>
              <a:gd name="adj" fmla="val 2727"/>
            </a:avLst>
          </a:prstGeom>
          <a:solidFill>
            <a:schemeClr val="bg1"/>
          </a:solidFill>
          <a:ln w="31750">
            <a:solidFill>
              <a:schemeClr val="accent5"/>
            </a:solidFill>
            <a:prstDash val="dash"/>
          </a:ln>
        </p:spPr>
        <p:txBody>
          <a:bodyPr wrap="square" lIns="254000" tIns="254000" rIns="254000" bIns="254000" rtlCol="0" anchor="ctr"/>
          <a:lstStyle/>
          <a:p>
            <a:pPr algn="ctr" indent="0" marL="0">
              <a:buNone/>
            </a:pPr>
            <a:r>
              <a:rPr lang="en-US" sz="3400" b="1" dirty="0">
                <a:solidFill>
                  <a:schemeClr val="accent3"/>
                </a:solidFill>
              </a:rPr>
              <a:t>[ Chèn Table 5 ]</a:t>
            </a:r>
            <a:endParaRPr lang="en-US" sz="3400" dirty="0"/>
          </a:p>
          <a:p>
            <a:pPr algn="ctr" indent="0" marL="0">
              <a:buNone/>
            </a:pPr>
            <a:r>
              <a:rPr lang="en-US" sz="2800" dirty="0">
                <a:solidFill>
                  <a:schemeClr val="accent3"/>
                </a:solidFill>
              </a:rPr>
              <a:t>So sánh cosine, inner product, L2</a:t>
            </a:r>
            <a:endParaRPr lang="en-US" sz="3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4.1 Reranker và lập chỉ mục</a:t>
            </a:r>
            <a:endParaRPr lang="en-US" sz="5000" dirty="0"/>
          </a:p>
        </p:txBody>
      </p:sp>
      <p:sp>
        <p:nvSpPr>
          <p:cNvPr id="3" name="Text 1"/>
          <p:cNvSpPr/>
          <p:nvPr/>
        </p:nvSpPr>
        <p:spPr>
          <a:xfrm>
            <a:off x="914400" y="1920240"/>
            <a:ext cx="804672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600" b="1" dirty="0">
                <a:solidFill>
                  <a:schemeClr val="bg1"/>
                </a:solidFill>
              </a:rPr>
              <a:t>Reranker</a:t>
            </a:r>
            <a:endParaRPr lang="en-US" sz="3600" dirty="0"/>
          </a:p>
        </p:txBody>
      </p:sp>
      <p:sp>
        <p:nvSpPr>
          <p:cNvPr id="4" name="Text 2"/>
          <p:cNvSpPr txBox="1"/>
          <p:nvPr/>
        </p:nvSpPr>
        <p:spPr>
          <a:xfrm>
            <a:off x="1005840" y="3063240"/>
            <a:ext cx="7863840" cy="2286000"/>
          </a:xfrm>
          <a:prstGeom prst="rect">
            <a:avLst/>
          </a:prstGeom>
          <a:noFill/>
          <a:ln/>
        </p:spPr>
        <p:txBody>
          <a:bodyPr wrap="square" lIns="0" tIns="0" rIns="0" bIns="0" rtlCol="0" anchor="t"/>
          <a:lstStyle/>
          <a:p>
            <a:pPr indent="0" marL="0">
              <a:buNone/>
            </a:pPr>
            <a:r>
              <a:rPr lang="en-US" sz="3100" dirty="0">
                <a:solidFill>
                  <a:schemeClr val="tx1"/>
                </a:solidFill>
              </a:rPr>
              <a:t>MiniLM vượt trội BGE sau tái xếp hạng, đồng thời nhanh hơn với chi phí tương đương.</a:t>
            </a:r>
            <a:endParaRPr lang="en-US" sz="3100" dirty="0"/>
          </a:p>
        </p:txBody>
      </p:sp>
      <p:sp>
        <p:nvSpPr>
          <p:cNvPr id="5" name="Text 3"/>
          <p:cNvSpPr/>
          <p:nvPr/>
        </p:nvSpPr>
        <p:spPr>
          <a:xfrm>
            <a:off x="914400" y="5486400"/>
            <a:ext cx="8046720" cy="4023360"/>
          </a:xfrm>
          <a:prstGeom prst="roundRect">
            <a:avLst>
              <a:gd name="adj" fmla="val 2727"/>
            </a:avLst>
          </a:prstGeom>
          <a:solidFill>
            <a:schemeClr val="bg1"/>
          </a:solidFill>
          <a:ln w="31750">
            <a:solidFill>
              <a:schemeClr val="accent5"/>
            </a:solidFill>
            <a:prstDash val="dash"/>
          </a:ln>
        </p:spPr>
        <p:txBody>
          <a:bodyPr wrap="square" lIns="254000" tIns="254000" rIns="254000" bIns="254000" rtlCol="0" anchor="ctr"/>
          <a:lstStyle/>
          <a:p>
            <a:pPr algn="ctr" indent="0" marL="0">
              <a:buNone/>
            </a:pPr>
            <a:r>
              <a:rPr lang="en-US" sz="3400" b="1" dirty="0">
                <a:solidFill>
                  <a:schemeClr val="accent3"/>
                </a:solidFill>
              </a:rPr>
              <a:t>[ Chèn Table 4 ]</a:t>
            </a:r>
            <a:endParaRPr lang="en-US" sz="3400" dirty="0"/>
          </a:p>
          <a:p>
            <a:pPr algn="ctr" indent="0" marL="0">
              <a:buNone/>
            </a:pPr>
            <a:r>
              <a:rPr lang="en-US" sz="2800" dirty="0">
                <a:solidFill>
                  <a:schemeClr val="accent3"/>
                </a:solidFill>
              </a:rPr>
              <a:t>So sánh BGE và MiniLM</a:t>
            </a:r>
            <a:endParaRPr lang="en-US" sz="3400" dirty="0"/>
          </a:p>
        </p:txBody>
      </p:sp>
      <p:sp>
        <p:nvSpPr>
          <p:cNvPr id="6" name="Text 4"/>
          <p:cNvSpPr/>
          <p:nvPr/>
        </p:nvSpPr>
        <p:spPr>
          <a:xfrm>
            <a:off x="9326880" y="1920240"/>
            <a:ext cx="804672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600" b="1" dirty="0">
                <a:solidFill>
                  <a:schemeClr val="bg1"/>
                </a:solidFill>
              </a:rPr>
              <a:t>Lập chỉ mục</a:t>
            </a:r>
            <a:endParaRPr lang="en-US" sz="3600" dirty="0"/>
          </a:p>
        </p:txBody>
      </p:sp>
      <p:sp>
        <p:nvSpPr>
          <p:cNvPr id="7" name="Text 5"/>
          <p:cNvSpPr txBox="1"/>
          <p:nvPr/>
        </p:nvSpPr>
        <p:spPr>
          <a:xfrm>
            <a:off x="9418320" y="3063240"/>
            <a:ext cx="7863840" cy="2286000"/>
          </a:xfrm>
          <a:prstGeom prst="rect">
            <a:avLst/>
          </a:prstGeom>
          <a:noFill/>
          <a:ln/>
        </p:spPr>
        <p:txBody>
          <a:bodyPr wrap="square" lIns="0" tIns="0" rIns="0" bIns="0" rtlCol="0" anchor="t"/>
          <a:lstStyle/>
          <a:p>
            <a:pPr indent="0" marL="0">
              <a:buNone/>
            </a:pPr>
            <a:r>
              <a:rPr lang="en-US" sz="3100" dirty="0">
                <a:solidFill>
                  <a:schemeClr val="tx1"/>
                </a:solidFill>
              </a:rPr>
              <a:t>Chênh lệch chất lượng giữa HNSW, IVF, ScaNN nhỏ và không có ý nghĩa thống kê. Khác biệt chính nằm ở độ trễ: ScaNN nhanh nhất, HNSW chậm nhất.</a:t>
            </a:r>
            <a:endParaRPr lang="en-US" sz="3100" dirty="0"/>
          </a:p>
        </p:txBody>
      </p:sp>
      <p:sp>
        <p:nvSpPr>
          <p:cNvPr id="8" name="Text 6"/>
          <p:cNvSpPr/>
          <p:nvPr/>
        </p:nvSpPr>
        <p:spPr>
          <a:xfrm>
            <a:off x="9326880" y="5486400"/>
            <a:ext cx="8046720" cy="4023360"/>
          </a:xfrm>
          <a:prstGeom prst="roundRect">
            <a:avLst>
              <a:gd name="adj" fmla="val 2727"/>
            </a:avLst>
          </a:prstGeom>
          <a:solidFill>
            <a:schemeClr val="bg1"/>
          </a:solidFill>
          <a:ln w="31750">
            <a:solidFill>
              <a:schemeClr val="accent5"/>
            </a:solidFill>
            <a:prstDash val="dash"/>
          </a:ln>
        </p:spPr>
        <p:txBody>
          <a:bodyPr wrap="square" lIns="254000" tIns="254000" rIns="254000" bIns="254000" rtlCol="0" anchor="ctr"/>
          <a:lstStyle/>
          <a:p>
            <a:pPr algn="ctr" indent="0" marL="0">
              <a:buNone/>
            </a:pPr>
            <a:r>
              <a:rPr lang="en-US" sz="3400" b="1" dirty="0">
                <a:solidFill>
                  <a:schemeClr val="accent3"/>
                </a:solidFill>
              </a:rPr>
              <a:t>[ Chèn Table 2 ]</a:t>
            </a:r>
            <a:endParaRPr lang="en-US" sz="3400" dirty="0"/>
          </a:p>
          <a:p>
            <a:pPr algn="ctr" indent="0" marL="0">
              <a:buNone/>
            </a:pPr>
            <a:r>
              <a:rPr lang="en-US" sz="2800" dirty="0">
                <a:solidFill>
                  <a:schemeClr val="accent3"/>
                </a:solidFill>
              </a:rPr>
              <a:t>So sánh HNSW, IVF, ScaNN</a:t>
            </a:r>
            <a:endParaRPr lang="en-US" sz="3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4.1 Tương tác và ý nghĩa thống kê</a:t>
            </a:r>
            <a:endParaRPr lang="en-US" sz="5000" dirty="0"/>
          </a:p>
        </p:txBody>
      </p:sp>
      <p:sp>
        <p:nvSpPr>
          <p:cNvPr id="3" name="Shape 1"/>
          <p:cNvSpPr/>
          <p:nvPr/>
        </p:nvSpPr>
        <p:spPr>
          <a:xfrm>
            <a:off x="914400" y="1920240"/>
            <a:ext cx="9692640" cy="7589520"/>
          </a:xfrm>
          <a:prstGeom prst="roundRect">
            <a:avLst>
              <a:gd name="adj" fmla="val 1446"/>
            </a:avLst>
          </a:prstGeom>
          <a:solidFill>
            <a:schemeClr val="accent4"/>
          </a:solidFill>
          <a:ln/>
        </p:spPr>
      </p:sp>
      <p:sp>
        <p:nvSpPr>
          <p:cNvPr id="4" name="Text 2"/>
          <p:cNvSpPr txBox="1"/>
          <p:nvPr/>
        </p:nvSpPr>
        <p:spPr>
          <a:xfrm>
            <a:off x="1325880" y="2194560"/>
            <a:ext cx="8869680" cy="640080"/>
          </a:xfrm>
          <a:prstGeom prst="rect">
            <a:avLst/>
          </a:prstGeom>
          <a:noFill/>
          <a:ln/>
        </p:spPr>
        <p:txBody>
          <a:bodyPr wrap="square" lIns="0" tIns="0" rIns="0" bIns="0" rtlCol="0" anchor="t"/>
          <a:lstStyle/>
          <a:p>
            <a:pPr indent="0" marL="0">
              <a:buNone/>
            </a:pPr>
            <a:r>
              <a:rPr lang="en-US" sz="3800" b="1" dirty="0">
                <a:solidFill>
                  <a:schemeClr val="accent1"/>
                </a:solidFill>
              </a:rPr>
              <a:t>Tương tác giữa các thành phần</a:t>
            </a:r>
            <a:endParaRPr lang="en-US" sz="3800" dirty="0"/>
          </a:p>
        </p:txBody>
      </p:sp>
      <p:sp>
        <p:nvSpPr>
          <p:cNvPr id="5" name="Text 3"/>
          <p:cNvSpPr/>
          <p:nvPr/>
        </p:nvSpPr>
        <p:spPr>
          <a:xfrm>
            <a:off x="1325880" y="3108960"/>
            <a:ext cx="3931920" cy="1280160"/>
          </a:xfrm>
          <a:prstGeom prst="roundRect">
            <a:avLst>
              <a:gd name="adj" fmla="val 8571"/>
            </a:avLst>
          </a:prstGeom>
          <a:solidFill>
            <a:schemeClr val="bg1"/>
          </a:solidFill>
          <a:ln w="19050">
            <a:solidFill>
              <a:schemeClr val="accent5"/>
            </a:solidFill>
          </a:ln>
        </p:spPr>
        <p:txBody>
          <a:bodyPr wrap="square" lIns="177800" tIns="177800" rIns="177800" bIns="177800" rtlCol="0" anchor="ctr"/>
          <a:lstStyle/>
          <a:p>
            <a:pPr algn="l" indent="0" marL="0">
              <a:buNone/>
            </a:pPr>
            <a:r>
              <a:rPr lang="en-US" sz="2500" b="1" dirty="0">
                <a:solidFill>
                  <a:schemeClr val="tx1"/>
                </a:solidFill>
              </a:rPr>
              <a:t>Retriever yếu</a:t>
            </a:r>
            <a:endParaRPr lang="en-US" sz="2500" dirty="0"/>
          </a:p>
        </p:txBody>
      </p:sp>
      <p:sp>
        <p:nvSpPr>
          <p:cNvPr id="6" name="Text 4"/>
          <p:cNvSpPr txBox="1"/>
          <p:nvPr/>
        </p:nvSpPr>
        <p:spPr>
          <a:xfrm>
            <a:off x="5257800" y="3108960"/>
            <a:ext cx="822960" cy="1280160"/>
          </a:xfrm>
          <a:prstGeom prst="rect">
            <a:avLst/>
          </a:prstGeom>
          <a:noFill/>
          <a:ln/>
        </p:spPr>
        <p:txBody>
          <a:bodyPr wrap="square" lIns="0" tIns="0" rIns="0" bIns="0" rtlCol="0" anchor="ctr"/>
          <a:lstStyle/>
          <a:p>
            <a:pPr algn="ctr" indent="0" marL="0">
              <a:buNone/>
            </a:pPr>
            <a:r>
              <a:rPr lang="en-US" sz="4800" dirty="0">
                <a:solidFill>
                  <a:schemeClr val="accent1"/>
                </a:solidFill>
              </a:rPr>
              <a:t>→</a:t>
            </a:r>
            <a:endParaRPr lang="en-US" sz="4800" dirty="0"/>
          </a:p>
        </p:txBody>
      </p:sp>
      <p:sp>
        <p:nvSpPr>
          <p:cNvPr id="7" name="Text 5"/>
          <p:cNvSpPr/>
          <p:nvPr/>
        </p:nvSpPr>
        <p:spPr>
          <a:xfrm>
            <a:off x="6080760" y="3108960"/>
            <a:ext cx="4114800" cy="1280160"/>
          </a:xfrm>
          <a:prstGeom prst="roundRect">
            <a:avLst>
              <a:gd name="adj" fmla="val 8571"/>
            </a:avLst>
          </a:prstGeom>
          <a:solidFill>
            <a:schemeClr val="accent2"/>
          </a:solidFill>
          <a:ln/>
        </p:spPr>
        <p:txBody>
          <a:bodyPr wrap="square" lIns="177800" tIns="177800" rIns="177800" bIns="177800" rtlCol="0" anchor="ctr"/>
          <a:lstStyle/>
          <a:p>
            <a:pPr algn="l" indent="0" marL="0">
              <a:buNone/>
            </a:pPr>
            <a:r>
              <a:rPr lang="en-US" sz="2500" b="1" dirty="0">
                <a:solidFill>
                  <a:schemeClr val="accent1"/>
                </a:solidFill>
              </a:rPr>
              <a:t>Reranking bị hạn chế</a:t>
            </a:r>
            <a:endParaRPr lang="en-US" sz="2500" dirty="0"/>
          </a:p>
        </p:txBody>
      </p:sp>
      <p:sp>
        <p:nvSpPr>
          <p:cNvPr id="8" name="Text 6"/>
          <p:cNvSpPr/>
          <p:nvPr/>
        </p:nvSpPr>
        <p:spPr>
          <a:xfrm>
            <a:off x="1325880" y="4617720"/>
            <a:ext cx="3931920" cy="1280160"/>
          </a:xfrm>
          <a:prstGeom prst="roundRect">
            <a:avLst>
              <a:gd name="adj" fmla="val 8571"/>
            </a:avLst>
          </a:prstGeom>
          <a:solidFill>
            <a:schemeClr val="accent1"/>
          </a:solidFill>
          <a:ln w="19050">
            <a:solidFill>
              <a:schemeClr val="accent5"/>
            </a:solidFill>
          </a:ln>
        </p:spPr>
        <p:txBody>
          <a:bodyPr wrap="square" lIns="177800" tIns="177800" rIns="177800" bIns="177800" rtlCol="0" anchor="ctr"/>
          <a:lstStyle/>
          <a:p>
            <a:pPr algn="l" indent="0" marL="0">
              <a:buNone/>
            </a:pPr>
            <a:r>
              <a:rPr lang="en-US" sz="2500" b="1" dirty="0">
                <a:solidFill>
                  <a:schemeClr val="bg1"/>
                </a:solidFill>
              </a:rPr>
              <a:t>Retriever mạnh (HyPE)</a:t>
            </a:r>
            <a:endParaRPr lang="en-US" sz="2500" dirty="0"/>
          </a:p>
        </p:txBody>
      </p:sp>
      <p:sp>
        <p:nvSpPr>
          <p:cNvPr id="9" name="Text 7"/>
          <p:cNvSpPr txBox="1"/>
          <p:nvPr/>
        </p:nvSpPr>
        <p:spPr>
          <a:xfrm>
            <a:off x="5257800" y="4617720"/>
            <a:ext cx="822960" cy="1280160"/>
          </a:xfrm>
          <a:prstGeom prst="rect">
            <a:avLst/>
          </a:prstGeom>
          <a:noFill/>
          <a:ln/>
        </p:spPr>
        <p:txBody>
          <a:bodyPr wrap="square" lIns="0" tIns="0" rIns="0" bIns="0" rtlCol="0" anchor="ctr"/>
          <a:lstStyle/>
          <a:p>
            <a:pPr algn="ctr" indent="0" marL="0">
              <a:buNone/>
            </a:pPr>
            <a:r>
              <a:rPr lang="en-US" sz="4800" dirty="0">
                <a:solidFill>
                  <a:schemeClr val="accent1"/>
                </a:solidFill>
              </a:rPr>
              <a:t>→</a:t>
            </a:r>
            <a:endParaRPr lang="en-US" sz="4800" dirty="0"/>
          </a:p>
        </p:txBody>
      </p:sp>
      <p:sp>
        <p:nvSpPr>
          <p:cNvPr id="10" name="Text 8"/>
          <p:cNvSpPr/>
          <p:nvPr/>
        </p:nvSpPr>
        <p:spPr>
          <a:xfrm>
            <a:off x="6080760" y="4617720"/>
            <a:ext cx="4114800" cy="1280160"/>
          </a:xfrm>
          <a:prstGeom prst="roundRect">
            <a:avLst>
              <a:gd name="adj" fmla="val 8571"/>
            </a:avLst>
          </a:prstGeom>
          <a:solidFill>
            <a:schemeClr val="accent2"/>
          </a:solidFill>
          <a:ln/>
        </p:spPr>
        <p:txBody>
          <a:bodyPr wrap="square" lIns="177800" tIns="177800" rIns="177800" bIns="177800" rtlCol="0" anchor="ctr"/>
          <a:lstStyle/>
          <a:p>
            <a:pPr algn="l" indent="0" marL="0">
              <a:buNone/>
            </a:pPr>
            <a:r>
              <a:rPr lang="en-US" sz="2500" b="1" dirty="0">
                <a:solidFill>
                  <a:schemeClr val="accent1"/>
                </a:solidFill>
              </a:rPr>
              <a:t>Reranking phát huy hiệu quả</a:t>
            </a:r>
            <a:endParaRPr lang="en-US" sz="2500" dirty="0"/>
          </a:p>
        </p:txBody>
      </p:sp>
      <p:sp>
        <p:nvSpPr>
          <p:cNvPr id="11" name="Text 9"/>
          <p:cNvSpPr/>
          <p:nvPr/>
        </p:nvSpPr>
        <p:spPr>
          <a:xfrm>
            <a:off x="1325880" y="6126480"/>
            <a:ext cx="3931920" cy="1280160"/>
          </a:xfrm>
          <a:prstGeom prst="roundRect">
            <a:avLst>
              <a:gd name="adj" fmla="val 8571"/>
            </a:avLst>
          </a:prstGeom>
          <a:solidFill>
            <a:schemeClr val="bg1"/>
          </a:solidFill>
          <a:ln w="19050">
            <a:solidFill>
              <a:schemeClr val="accent5"/>
            </a:solidFill>
          </a:ln>
        </p:spPr>
        <p:txBody>
          <a:bodyPr wrap="square" lIns="177800" tIns="177800" rIns="177800" bIns="177800" rtlCol="0" anchor="ctr"/>
          <a:lstStyle/>
          <a:p>
            <a:pPr algn="l" indent="0" marL="0">
              <a:buNone/>
            </a:pPr>
            <a:r>
              <a:rPr lang="en-US" sz="2500" b="1" dirty="0">
                <a:solidFill>
                  <a:schemeClr val="tx1"/>
                </a:solidFill>
              </a:rPr>
              <a:t>Inner product + HyDE/HyPE</a:t>
            </a:r>
            <a:endParaRPr lang="en-US" sz="2500" dirty="0"/>
          </a:p>
        </p:txBody>
      </p:sp>
      <p:sp>
        <p:nvSpPr>
          <p:cNvPr id="12" name="Text 10"/>
          <p:cNvSpPr txBox="1"/>
          <p:nvPr/>
        </p:nvSpPr>
        <p:spPr>
          <a:xfrm>
            <a:off x="5257800" y="6126480"/>
            <a:ext cx="822960" cy="1280160"/>
          </a:xfrm>
          <a:prstGeom prst="rect">
            <a:avLst/>
          </a:prstGeom>
          <a:noFill/>
          <a:ln/>
        </p:spPr>
        <p:txBody>
          <a:bodyPr wrap="square" lIns="0" tIns="0" rIns="0" bIns="0" rtlCol="0" anchor="ctr"/>
          <a:lstStyle/>
          <a:p>
            <a:pPr algn="ctr" indent="0" marL="0">
              <a:buNone/>
            </a:pPr>
            <a:r>
              <a:rPr lang="en-US" sz="4800" dirty="0">
                <a:solidFill>
                  <a:schemeClr val="accent1"/>
                </a:solidFill>
              </a:rPr>
              <a:t>→</a:t>
            </a:r>
            <a:endParaRPr lang="en-US" sz="4800" dirty="0"/>
          </a:p>
        </p:txBody>
      </p:sp>
      <p:sp>
        <p:nvSpPr>
          <p:cNvPr id="13" name="Text 11"/>
          <p:cNvSpPr/>
          <p:nvPr/>
        </p:nvSpPr>
        <p:spPr>
          <a:xfrm>
            <a:off x="6080760" y="6126480"/>
            <a:ext cx="4114800" cy="1280160"/>
          </a:xfrm>
          <a:prstGeom prst="roundRect">
            <a:avLst>
              <a:gd name="adj" fmla="val 8571"/>
            </a:avLst>
          </a:prstGeom>
          <a:solidFill>
            <a:schemeClr val="accent2"/>
          </a:solidFill>
          <a:ln/>
        </p:spPr>
        <p:txBody>
          <a:bodyPr wrap="square" lIns="177800" tIns="177800" rIns="177800" bIns="177800" rtlCol="0" anchor="ctr"/>
          <a:lstStyle/>
          <a:p>
            <a:pPr algn="l" indent="0" marL="0">
              <a:buNone/>
            </a:pPr>
            <a:r>
              <a:rPr lang="en-US" sz="2500" b="1" dirty="0">
                <a:solidFill>
                  <a:schemeClr val="accent1"/>
                </a:solidFill>
              </a:rPr>
              <a:t>Ưu thế rõ nhất, giảm dưới Hierarchical</a:t>
            </a:r>
            <a:endParaRPr lang="en-US" sz="2500" dirty="0"/>
          </a:p>
        </p:txBody>
      </p:sp>
      <p:sp>
        <p:nvSpPr>
          <p:cNvPr id="14" name="Text 12"/>
          <p:cNvSpPr txBox="1"/>
          <p:nvPr/>
        </p:nvSpPr>
        <p:spPr>
          <a:xfrm>
            <a:off x="1325880" y="7726680"/>
            <a:ext cx="8869680" cy="1554480"/>
          </a:xfrm>
          <a:prstGeom prst="rect">
            <a:avLst/>
          </a:prstGeom>
          <a:noFill/>
          <a:ln/>
        </p:spPr>
        <p:txBody>
          <a:bodyPr wrap="square" lIns="0" tIns="0" rIns="0" bIns="0" rtlCol="0" anchor="t"/>
          <a:lstStyle/>
          <a:p>
            <a:pPr indent="0" marL="0">
              <a:buNone/>
            </a:pPr>
            <a:r>
              <a:rPr lang="en-US" sz="3000" b="1" dirty="0">
                <a:solidFill>
                  <a:schemeClr val="accent1"/>
                </a:solidFill>
              </a:rPr>
              <a:t>Reranking và độ đo tương đồng là yếu tố khuếch đại có điều kiện, không tác động độc lập.</a:t>
            </a:r>
            <a:endParaRPr lang="en-US" sz="3000" dirty="0"/>
          </a:p>
        </p:txBody>
      </p:sp>
      <p:sp>
        <p:nvSpPr>
          <p:cNvPr id="15" name="Shape 13"/>
          <p:cNvSpPr/>
          <p:nvPr/>
        </p:nvSpPr>
        <p:spPr>
          <a:xfrm>
            <a:off x="10881360" y="1920240"/>
            <a:ext cx="6492240" cy="7589520"/>
          </a:xfrm>
          <a:prstGeom prst="roundRect">
            <a:avLst>
              <a:gd name="adj" fmla="val 1690"/>
            </a:avLst>
          </a:prstGeom>
          <a:solidFill>
            <a:schemeClr val="accent1"/>
          </a:solidFill>
          <a:ln/>
        </p:spPr>
      </p:sp>
      <p:sp>
        <p:nvSpPr>
          <p:cNvPr id="16" name="Text 14"/>
          <p:cNvSpPr txBox="1"/>
          <p:nvPr/>
        </p:nvSpPr>
        <p:spPr>
          <a:xfrm>
            <a:off x="11292840" y="2194560"/>
            <a:ext cx="5669280" cy="640080"/>
          </a:xfrm>
          <a:prstGeom prst="rect">
            <a:avLst/>
          </a:prstGeom>
          <a:noFill/>
          <a:ln/>
        </p:spPr>
        <p:txBody>
          <a:bodyPr wrap="square" lIns="0" tIns="0" rIns="0" bIns="0" rtlCol="0" anchor="t"/>
          <a:lstStyle/>
          <a:p>
            <a:pPr indent="0" marL="0">
              <a:buNone/>
            </a:pPr>
            <a:r>
              <a:rPr lang="en-US" sz="3800" b="1" dirty="0">
                <a:solidFill>
                  <a:schemeClr val="bg1"/>
                </a:solidFill>
              </a:rPr>
              <a:t>Lưu ý về p-value</a:t>
            </a:r>
            <a:endParaRPr lang="en-US" sz="3800" dirty="0"/>
          </a:p>
        </p:txBody>
      </p:sp>
      <p:sp>
        <p:nvSpPr>
          <p:cNvPr id="17" name="Text 15"/>
          <p:cNvSpPr txBox="1"/>
          <p:nvPr/>
        </p:nvSpPr>
        <p:spPr>
          <a:xfrm>
            <a:off x="11292840" y="3200400"/>
            <a:ext cx="5669280" cy="5943600"/>
          </a:xfrm>
          <a:prstGeom prst="rect">
            <a:avLst/>
          </a:prstGeom>
          <a:noFill/>
          <a:ln/>
        </p:spPr>
        <p:txBody>
          <a:bodyPr wrap="square" lIns="0" tIns="0" rIns="0" bIns="0" rtlCol="0" anchor="t"/>
          <a:lstStyle/>
          <a:p>
            <a:pPr marL="330200" indent="-330200">
              <a:spcAft>
                <a:spcPts val="1200"/>
              </a:spcAft>
              <a:buSzPct val="100000"/>
              <a:buChar char="•"/>
            </a:pPr>
            <a:r>
              <a:rPr lang="en-US" sz="3400" dirty="0">
                <a:solidFill>
                  <a:schemeClr val="bg1"/>
                </a:solidFill>
              </a:rPr>
              <a:t>p-value cực nhỏ xuất hiện do cỡ mẫu lớn và phương sai trong nhóm thấp</a:t>
            </a:r>
            <a:endParaRPr lang="en-US" sz="3400" dirty="0"/>
          </a:p>
          <a:p>
            <a:pPr marL="330200" indent="-330200">
              <a:spcAft>
                <a:spcPts val="1200"/>
              </a:spcAft>
              <a:buSzPct val="100000"/>
              <a:buChar char="•"/>
            </a:pPr>
            <a:r>
              <a:rPr lang="en-US" sz="3400" dirty="0">
                <a:solidFill>
                  <a:schemeClr val="bg1"/>
                </a:solidFill>
              </a:rPr>
              <a:t>Dùng kích thước hiệu ứng và khoảng tin cậy 95% làm chỉ báo chính về ý nghĩa thực tiễn</a:t>
            </a:r>
            <a:endParaRPr lang="en-US" sz="3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4.1 Khuyến nghị của tác giả</a:t>
            </a:r>
            <a:endParaRPr lang="en-US" sz="5000" dirty="0"/>
          </a:p>
        </p:txBody>
      </p:sp>
      <p:sp>
        <p:nvSpPr>
          <p:cNvPr id="3" name="Shape 1"/>
          <p:cNvSpPr/>
          <p:nvPr/>
        </p:nvSpPr>
        <p:spPr>
          <a:xfrm>
            <a:off x="914400" y="1874520"/>
            <a:ext cx="16459200" cy="1371600"/>
          </a:xfrm>
          <a:prstGeom prst="roundRect">
            <a:avLst>
              <a:gd name="adj" fmla="val 8000"/>
            </a:avLst>
          </a:prstGeom>
          <a:solidFill>
            <a:schemeClr val="accent4"/>
          </a:solidFill>
          <a:ln/>
        </p:spPr>
      </p:sp>
      <p:sp>
        <p:nvSpPr>
          <p:cNvPr id="4" name="Text 2"/>
          <p:cNvSpPr/>
          <p:nvPr/>
        </p:nvSpPr>
        <p:spPr>
          <a:xfrm>
            <a:off x="1234440" y="205740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1</a:t>
            </a:r>
            <a:endParaRPr lang="en-US" sz="3500" dirty="0"/>
          </a:p>
        </p:txBody>
      </p:sp>
      <p:sp>
        <p:nvSpPr>
          <p:cNvPr id="5" name="Text 3"/>
          <p:cNvSpPr txBox="1"/>
          <p:nvPr/>
        </p:nvSpPr>
        <p:spPr>
          <a:xfrm>
            <a:off x="2651760" y="1874520"/>
            <a:ext cx="14356080" cy="1371600"/>
          </a:xfrm>
          <a:prstGeom prst="rect">
            <a:avLst/>
          </a:prstGeom>
          <a:noFill/>
          <a:ln/>
        </p:spPr>
        <p:txBody>
          <a:bodyPr wrap="square" lIns="0" tIns="0" rIns="0" bIns="0" rtlCol="0" anchor="ctr"/>
          <a:lstStyle/>
          <a:p>
            <a:pPr indent="0" marL="0">
              <a:buNone/>
            </a:pPr>
            <a:r>
              <a:rPr lang="en-US" sz="3400" dirty="0">
                <a:solidFill>
                  <a:schemeClr val="tx1"/>
                </a:solidFill>
              </a:rPr>
              <a:t>Ưu tiên chọn chiến lược truy hồi trước khi tối ưu lập chỉ mục</a:t>
            </a:r>
            <a:endParaRPr lang="en-US" sz="3400" dirty="0"/>
          </a:p>
        </p:txBody>
      </p:sp>
      <p:sp>
        <p:nvSpPr>
          <p:cNvPr id="6" name="Shape 4"/>
          <p:cNvSpPr/>
          <p:nvPr/>
        </p:nvSpPr>
        <p:spPr>
          <a:xfrm>
            <a:off x="914400" y="3429000"/>
            <a:ext cx="16459200" cy="1371600"/>
          </a:xfrm>
          <a:prstGeom prst="roundRect">
            <a:avLst>
              <a:gd name="adj" fmla="val 8000"/>
            </a:avLst>
          </a:prstGeom>
          <a:solidFill>
            <a:schemeClr val="accent4"/>
          </a:solidFill>
          <a:ln/>
        </p:spPr>
      </p:sp>
      <p:sp>
        <p:nvSpPr>
          <p:cNvPr id="7" name="Text 5"/>
          <p:cNvSpPr/>
          <p:nvPr/>
        </p:nvSpPr>
        <p:spPr>
          <a:xfrm>
            <a:off x="1234440" y="361188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2</a:t>
            </a:r>
            <a:endParaRPr lang="en-US" sz="3500" dirty="0"/>
          </a:p>
        </p:txBody>
      </p:sp>
      <p:sp>
        <p:nvSpPr>
          <p:cNvPr id="8" name="Text 6"/>
          <p:cNvSpPr txBox="1"/>
          <p:nvPr/>
        </p:nvSpPr>
        <p:spPr>
          <a:xfrm>
            <a:off x="2651760" y="3429000"/>
            <a:ext cx="14356080" cy="1371600"/>
          </a:xfrm>
          <a:prstGeom prst="rect">
            <a:avLst/>
          </a:prstGeom>
          <a:noFill/>
          <a:ln/>
        </p:spPr>
        <p:txBody>
          <a:bodyPr wrap="square" lIns="0" tIns="0" rIns="0" bIns="0" rtlCol="0" anchor="ctr"/>
          <a:lstStyle/>
          <a:p>
            <a:pPr indent="0" marL="0">
              <a:buNone/>
            </a:pPr>
            <a:r>
              <a:rPr lang="en-US" sz="3400" dirty="0">
                <a:solidFill>
                  <a:schemeClr val="tx1"/>
                </a:solidFill>
              </a:rPr>
              <a:t>Dùng inner product hoặc cosine, tránh khoảng cách L2</a:t>
            </a:r>
            <a:endParaRPr lang="en-US" sz="3400" dirty="0"/>
          </a:p>
        </p:txBody>
      </p:sp>
      <p:sp>
        <p:nvSpPr>
          <p:cNvPr id="9" name="Shape 7"/>
          <p:cNvSpPr/>
          <p:nvPr/>
        </p:nvSpPr>
        <p:spPr>
          <a:xfrm>
            <a:off x="914400" y="4983480"/>
            <a:ext cx="16459200" cy="1371600"/>
          </a:xfrm>
          <a:prstGeom prst="roundRect">
            <a:avLst>
              <a:gd name="adj" fmla="val 8000"/>
            </a:avLst>
          </a:prstGeom>
          <a:solidFill>
            <a:schemeClr val="accent4"/>
          </a:solidFill>
          <a:ln/>
        </p:spPr>
      </p:sp>
      <p:sp>
        <p:nvSpPr>
          <p:cNvPr id="10" name="Text 8"/>
          <p:cNvSpPr/>
          <p:nvPr/>
        </p:nvSpPr>
        <p:spPr>
          <a:xfrm>
            <a:off x="1234440" y="516636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3</a:t>
            </a:r>
            <a:endParaRPr lang="en-US" sz="3500" dirty="0"/>
          </a:p>
        </p:txBody>
      </p:sp>
      <p:sp>
        <p:nvSpPr>
          <p:cNvPr id="11" name="Text 9"/>
          <p:cNvSpPr txBox="1"/>
          <p:nvPr/>
        </p:nvSpPr>
        <p:spPr>
          <a:xfrm>
            <a:off x="2651760" y="4983480"/>
            <a:ext cx="14356080" cy="1371600"/>
          </a:xfrm>
          <a:prstGeom prst="rect">
            <a:avLst/>
          </a:prstGeom>
          <a:noFill/>
          <a:ln/>
        </p:spPr>
        <p:txBody>
          <a:bodyPr wrap="square" lIns="0" tIns="0" rIns="0" bIns="0" rtlCol="0" anchor="ctr"/>
          <a:lstStyle/>
          <a:p>
            <a:pPr indent="0" marL="0">
              <a:buNone/>
            </a:pPr>
            <a:r>
              <a:rPr lang="en-US" sz="3400" dirty="0">
                <a:solidFill>
                  <a:schemeClr val="tx1"/>
                </a:solidFill>
              </a:rPr>
              <a:t>Áp dụng reranking có chọn lọc với mô hình nhẹ như MiniLM khi cần độ chính xác cao</a:t>
            </a:r>
            <a:endParaRPr lang="en-US" sz="3400" dirty="0"/>
          </a:p>
        </p:txBody>
      </p:sp>
      <p:sp>
        <p:nvSpPr>
          <p:cNvPr id="12" name="Shape 10"/>
          <p:cNvSpPr/>
          <p:nvPr/>
        </p:nvSpPr>
        <p:spPr>
          <a:xfrm>
            <a:off x="914400" y="6537960"/>
            <a:ext cx="16459200" cy="1371600"/>
          </a:xfrm>
          <a:prstGeom prst="roundRect">
            <a:avLst>
              <a:gd name="adj" fmla="val 8000"/>
            </a:avLst>
          </a:prstGeom>
          <a:solidFill>
            <a:schemeClr val="accent4"/>
          </a:solidFill>
          <a:ln/>
        </p:spPr>
      </p:sp>
      <p:sp>
        <p:nvSpPr>
          <p:cNvPr id="13" name="Text 11"/>
          <p:cNvSpPr/>
          <p:nvPr/>
        </p:nvSpPr>
        <p:spPr>
          <a:xfrm>
            <a:off x="1234440" y="672084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4</a:t>
            </a:r>
            <a:endParaRPr lang="en-US" sz="3500" dirty="0"/>
          </a:p>
        </p:txBody>
      </p:sp>
      <p:sp>
        <p:nvSpPr>
          <p:cNvPr id="14" name="Text 12"/>
          <p:cNvSpPr txBox="1"/>
          <p:nvPr/>
        </p:nvSpPr>
        <p:spPr>
          <a:xfrm>
            <a:off x="2651760" y="6537960"/>
            <a:ext cx="14356080" cy="1371600"/>
          </a:xfrm>
          <a:prstGeom prst="rect">
            <a:avLst/>
          </a:prstGeom>
          <a:noFill/>
          <a:ln/>
        </p:spPr>
        <p:txBody>
          <a:bodyPr wrap="square" lIns="0" tIns="0" rIns="0" bIns="0" rtlCol="0" anchor="ctr"/>
          <a:lstStyle/>
          <a:p>
            <a:pPr indent="0" marL="0">
              <a:buNone/>
            </a:pPr>
            <a:r>
              <a:rPr lang="en-US" sz="3400" dirty="0">
                <a:solidFill>
                  <a:schemeClr val="tx1"/>
                </a:solidFill>
              </a:rPr>
              <a:t>Chọn index theo yêu cầu latency và bộ nhớ, không kỳ vọng tăng chất lượng</a:t>
            </a:r>
            <a:endParaRPr lang="en-US" sz="3400" dirty="0"/>
          </a:p>
        </p:txBody>
      </p:sp>
      <p:sp>
        <p:nvSpPr>
          <p:cNvPr id="15" name="Shape 13"/>
          <p:cNvSpPr/>
          <p:nvPr/>
        </p:nvSpPr>
        <p:spPr>
          <a:xfrm>
            <a:off x="914400" y="8092440"/>
            <a:ext cx="16459200" cy="1371600"/>
          </a:xfrm>
          <a:prstGeom prst="roundRect">
            <a:avLst>
              <a:gd name="adj" fmla="val 8000"/>
            </a:avLst>
          </a:prstGeom>
          <a:solidFill>
            <a:schemeClr val="accent4"/>
          </a:solidFill>
          <a:ln/>
        </p:spPr>
      </p:sp>
      <p:sp>
        <p:nvSpPr>
          <p:cNvPr id="16" name="Text 14"/>
          <p:cNvSpPr/>
          <p:nvPr/>
        </p:nvSpPr>
        <p:spPr>
          <a:xfrm>
            <a:off x="1234440" y="8275320"/>
            <a:ext cx="1005840" cy="1005840"/>
          </a:xfrm>
          <a:prstGeom prst="ellipse">
            <a:avLst/>
          </a:prstGeom>
          <a:solidFill>
            <a:schemeClr val="accent1"/>
          </a:solidFill>
          <a:ln/>
        </p:spPr>
        <p:txBody>
          <a:bodyPr wrap="square" lIns="0" tIns="0" rIns="0" bIns="0" rtlCol="0" anchor="ctr"/>
          <a:lstStyle/>
          <a:p>
            <a:pPr algn="ctr" indent="0" marL="0">
              <a:buNone/>
            </a:pPr>
            <a:r>
              <a:rPr lang="en-US" sz="3500" b="1" dirty="0">
                <a:solidFill>
                  <a:schemeClr val="bg1"/>
                </a:solidFill>
              </a:rPr>
              <a:t>5</a:t>
            </a:r>
            <a:endParaRPr lang="en-US" sz="3500" dirty="0"/>
          </a:p>
        </p:txBody>
      </p:sp>
      <p:sp>
        <p:nvSpPr>
          <p:cNvPr id="17" name="Text 15"/>
          <p:cNvSpPr txBox="1"/>
          <p:nvPr/>
        </p:nvSpPr>
        <p:spPr>
          <a:xfrm>
            <a:off x="2651760" y="8092440"/>
            <a:ext cx="14356080" cy="1371600"/>
          </a:xfrm>
          <a:prstGeom prst="rect">
            <a:avLst/>
          </a:prstGeom>
          <a:noFill/>
          <a:ln/>
        </p:spPr>
        <p:txBody>
          <a:bodyPr wrap="square" lIns="0" tIns="0" rIns="0" bIns="0" rtlCol="0" anchor="ctr"/>
          <a:lstStyle/>
          <a:p>
            <a:pPr indent="0" marL="0">
              <a:buNone/>
            </a:pPr>
            <a:r>
              <a:rPr lang="en-US" sz="3400" dirty="0">
                <a:solidFill>
                  <a:schemeClr val="tx1"/>
                </a:solidFill>
              </a:rPr>
              <a:t>Coi kích thước chunk là tham số đánh đổi giữa độ chính xác với chi phí và độ trễ, không có giá trị tối ưu tuyệt đối</a:t>
            </a:r>
            <a:endParaRPr lang="en-US" sz="3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4.2 Đánh giá của tác giả</a:t>
            </a:r>
            <a:endParaRPr lang="en-US" sz="5000" dirty="0"/>
          </a:p>
        </p:txBody>
      </p:sp>
      <p:sp>
        <p:nvSpPr>
          <p:cNvPr id="3" name="Shape 1"/>
          <p:cNvSpPr/>
          <p:nvPr/>
        </p:nvSpPr>
        <p:spPr>
          <a:xfrm>
            <a:off x="914400" y="1920240"/>
            <a:ext cx="8046720" cy="3657600"/>
          </a:xfrm>
          <a:prstGeom prst="roundRect">
            <a:avLst>
              <a:gd name="adj" fmla="val 3000"/>
            </a:avLst>
          </a:prstGeom>
          <a:solidFill>
            <a:schemeClr val="accent4"/>
          </a:solidFill>
          <a:ln/>
        </p:spPr>
      </p:sp>
      <p:sp>
        <p:nvSpPr>
          <p:cNvPr id="4" name="Text 2"/>
          <p:cNvSpPr txBox="1"/>
          <p:nvPr/>
        </p:nvSpPr>
        <p:spPr>
          <a:xfrm>
            <a:off x="1325880" y="2240280"/>
            <a:ext cx="7223760" cy="640080"/>
          </a:xfrm>
          <a:prstGeom prst="rect">
            <a:avLst/>
          </a:prstGeom>
          <a:noFill/>
          <a:ln/>
        </p:spPr>
        <p:txBody>
          <a:bodyPr wrap="square" lIns="0" tIns="0" rIns="0" bIns="0" rtlCol="0" anchor="t"/>
          <a:lstStyle/>
          <a:p>
            <a:pPr indent="0" marL="0">
              <a:buNone/>
            </a:pPr>
            <a:r>
              <a:rPr lang="en-US" sz="3800" b="1" dirty="0">
                <a:solidFill>
                  <a:schemeClr val="accent6"/>
                </a:solidFill>
              </a:rPr>
              <a:t>Dữ liệu</a:t>
            </a:r>
            <a:endParaRPr lang="en-US" sz="3800" dirty="0"/>
          </a:p>
        </p:txBody>
      </p:sp>
      <p:sp>
        <p:nvSpPr>
          <p:cNvPr id="5" name="Text 3"/>
          <p:cNvSpPr txBox="1"/>
          <p:nvPr/>
        </p:nvSpPr>
        <p:spPr>
          <a:xfrm>
            <a:off x="1325880" y="3017520"/>
            <a:ext cx="7223760" cy="2377440"/>
          </a:xfrm>
          <a:prstGeom prst="rect">
            <a:avLst/>
          </a:prstGeom>
          <a:noFill/>
          <a:ln/>
        </p:spPr>
        <p:txBody>
          <a:bodyPr wrap="square" lIns="0" tIns="0" rIns="0" bIns="0" rtlCol="0" anchor="t"/>
          <a:lstStyle/>
          <a:p>
            <a:pPr indent="0" marL="0">
              <a:buNone/>
            </a:pPr>
            <a:r>
              <a:rPr lang="en-US" sz="3400" dirty="0">
                <a:solidFill>
                  <a:schemeClr val="tx1"/>
                </a:solidFill>
              </a:rPr>
              <a:t>Chỉ một bộ dữ liệu tiếng Anh, miền tổng quát (SQuAD), nên kết quả có thể không đúng với dữ liệu đa ngôn ngữ hoặc chuyên biệt.</a:t>
            </a:r>
            <a:endParaRPr lang="en-US" sz="3400" dirty="0"/>
          </a:p>
        </p:txBody>
      </p:sp>
      <p:sp>
        <p:nvSpPr>
          <p:cNvPr id="6" name="Shape 4"/>
          <p:cNvSpPr/>
          <p:nvPr/>
        </p:nvSpPr>
        <p:spPr>
          <a:xfrm>
            <a:off x="9326880" y="1920240"/>
            <a:ext cx="8046720" cy="3657600"/>
          </a:xfrm>
          <a:prstGeom prst="roundRect">
            <a:avLst>
              <a:gd name="adj" fmla="val 3000"/>
            </a:avLst>
          </a:prstGeom>
          <a:solidFill>
            <a:schemeClr val="accent4"/>
          </a:solidFill>
          <a:ln/>
        </p:spPr>
      </p:sp>
      <p:sp>
        <p:nvSpPr>
          <p:cNvPr id="7" name="Text 5"/>
          <p:cNvSpPr txBox="1"/>
          <p:nvPr/>
        </p:nvSpPr>
        <p:spPr>
          <a:xfrm>
            <a:off x="9738360" y="2240280"/>
            <a:ext cx="7223760" cy="640080"/>
          </a:xfrm>
          <a:prstGeom prst="rect">
            <a:avLst/>
          </a:prstGeom>
          <a:noFill/>
          <a:ln/>
        </p:spPr>
        <p:txBody>
          <a:bodyPr wrap="square" lIns="0" tIns="0" rIns="0" bIns="0" rtlCol="0" anchor="t"/>
          <a:lstStyle/>
          <a:p>
            <a:pPr indent="0" marL="0">
              <a:buNone/>
            </a:pPr>
            <a:r>
              <a:rPr lang="en-US" sz="3800" b="1" dirty="0">
                <a:solidFill>
                  <a:schemeClr val="accent6"/>
                </a:solidFill>
              </a:rPr>
              <a:t>Tham số cố định</a:t>
            </a:r>
            <a:endParaRPr lang="en-US" sz="3800" dirty="0"/>
          </a:p>
        </p:txBody>
      </p:sp>
      <p:sp>
        <p:nvSpPr>
          <p:cNvPr id="8" name="Text 6"/>
          <p:cNvSpPr txBox="1"/>
          <p:nvPr/>
        </p:nvSpPr>
        <p:spPr>
          <a:xfrm>
            <a:off x="9738360" y="3017520"/>
            <a:ext cx="7223760" cy="2377440"/>
          </a:xfrm>
          <a:prstGeom prst="rect">
            <a:avLst/>
          </a:prstGeom>
          <a:noFill/>
          <a:ln/>
        </p:spPr>
        <p:txBody>
          <a:bodyPr wrap="square" lIns="0" tIns="0" rIns="0" bIns="0" rtlCol="0" anchor="t"/>
          <a:lstStyle/>
          <a:p>
            <a:pPr indent="0" marL="0">
              <a:buNone/>
            </a:pPr>
            <a:r>
              <a:rPr lang="en-US" sz="3400" dirty="0">
                <a:solidFill>
                  <a:schemeClr val="tx1"/>
                </a:solidFill>
              </a:rPr>
              <a:t>Một số tham số bị cố định trong thực nghiệm; thay đổi chúng có thể dẫn đến kết quả khác.</a:t>
            </a:r>
            <a:endParaRPr lang="en-US" sz="3400" dirty="0"/>
          </a:p>
        </p:txBody>
      </p:sp>
      <p:sp>
        <p:nvSpPr>
          <p:cNvPr id="9" name="Shape 7"/>
          <p:cNvSpPr/>
          <p:nvPr/>
        </p:nvSpPr>
        <p:spPr>
          <a:xfrm>
            <a:off x="914400" y="5852160"/>
            <a:ext cx="8046720" cy="3657600"/>
          </a:xfrm>
          <a:prstGeom prst="roundRect">
            <a:avLst>
              <a:gd name="adj" fmla="val 3000"/>
            </a:avLst>
          </a:prstGeom>
          <a:solidFill>
            <a:schemeClr val="accent4"/>
          </a:solidFill>
          <a:ln/>
        </p:spPr>
      </p:sp>
      <p:sp>
        <p:nvSpPr>
          <p:cNvPr id="10" name="Text 8"/>
          <p:cNvSpPr txBox="1"/>
          <p:nvPr/>
        </p:nvSpPr>
        <p:spPr>
          <a:xfrm>
            <a:off x="1325880" y="6172200"/>
            <a:ext cx="7223760" cy="640080"/>
          </a:xfrm>
          <a:prstGeom prst="rect">
            <a:avLst/>
          </a:prstGeom>
          <a:noFill/>
          <a:ln/>
        </p:spPr>
        <p:txBody>
          <a:bodyPr wrap="square" lIns="0" tIns="0" rIns="0" bIns="0" rtlCol="0" anchor="t"/>
          <a:lstStyle/>
          <a:p>
            <a:pPr indent="0" marL="0">
              <a:buNone/>
            </a:pPr>
            <a:r>
              <a:rPr lang="en-US" sz="3800" b="1" dirty="0">
                <a:solidFill>
                  <a:schemeClr val="accent6"/>
                </a:solidFill>
              </a:rPr>
              <a:t>Mô hình sinh</a:t>
            </a:r>
            <a:endParaRPr lang="en-US" sz="3800" dirty="0"/>
          </a:p>
        </p:txBody>
      </p:sp>
      <p:sp>
        <p:nvSpPr>
          <p:cNvPr id="11" name="Text 9"/>
          <p:cNvSpPr txBox="1"/>
          <p:nvPr/>
        </p:nvSpPr>
        <p:spPr>
          <a:xfrm>
            <a:off x="1325880" y="6949440"/>
            <a:ext cx="7223760" cy="2377440"/>
          </a:xfrm>
          <a:prstGeom prst="rect">
            <a:avLst/>
          </a:prstGeom>
          <a:noFill/>
          <a:ln/>
        </p:spPr>
        <p:txBody>
          <a:bodyPr wrap="square" lIns="0" tIns="0" rIns="0" bIns="0" rtlCol="0" anchor="t"/>
          <a:lstStyle/>
          <a:p>
            <a:pPr indent="0" marL="0">
              <a:buNone/>
            </a:pPr>
            <a:r>
              <a:rPr lang="en-US" sz="3400" dirty="0">
                <a:solidFill>
                  <a:schemeClr val="tx1"/>
                </a:solidFill>
              </a:rPr>
              <a:t>Chỉ dùng gpt-4o-mini; một mô hình mạnh hơn có thể sinh văn bản tốt hơn.</a:t>
            </a:r>
            <a:endParaRPr lang="en-US" sz="3400" dirty="0"/>
          </a:p>
        </p:txBody>
      </p:sp>
      <p:sp>
        <p:nvSpPr>
          <p:cNvPr id="12" name="Shape 10"/>
          <p:cNvSpPr/>
          <p:nvPr/>
        </p:nvSpPr>
        <p:spPr>
          <a:xfrm>
            <a:off x="9326880" y="5852160"/>
            <a:ext cx="8046720" cy="3657600"/>
          </a:xfrm>
          <a:prstGeom prst="roundRect">
            <a:avLst>
              <a:gd name="adj" fmla="val 3000"/>
            </a:avLst>
          </a:prstGeom>
          <a:solidFill>
            <a:schemeClr val="accent4"/>
          </a:solidFill>
          <a:ln/>
        </p:spPr>
      </p:sp>
      <p:sp>
        <p:nvSpPr>
          <p:cNvPr id="13" name="Text 11"/>
          <p:cNvSpPr txBox="1"/>
          <p:nvPr/>
        </p:nvSpPr>
        <p:spPr>
          <a:xfrm>
            <a:off x="9738360" y="6172200"/>
            <a:ext cx="7223760" cy="640080"/>
          </a:xfrm>
          <a:prstGeom prst="rect">
            <a:avLst/>
          </a:prstGeom>
          <a:noFill/>
          <a:ln/>
        </p:spPr>
        <p:txBody>
          <a:bodyPr wrap="square" lIns="0" tIns="0" rIns="0" bIns="0" rtlCol="0" anchor="t"/>
          <a:lstStyle/>
          <a:p>
            <a:pPr indent="0" marL="0">
              <a:buNone/>
            </a:pPr>
            <a:r>
              <a:rPr lang="en-US" sz="3800" b="1" dirty="0">
                <a:solidFill>
                  <a:schemeClr val="accent6"/>
                </a:solidFill>
              </a:rPr>
              <a:t>Mô hình embedding</a:t>
            </a:r>
            <a:endParaRPr lang="en-US" sz="3800" dirty="0"/>
          </a:p>
        </p:txBody>
      </p:sp>
      <p:sp>
        <p:nvSpPr>
          <p:cNvPr id="14" name="Text 12"/>
          <p:cNvSpPr txBox="1"/>
          <p:nvPr/>
        </p:nvSpPr>
        <p:spPr>
          <a:xfrm>
            <a:off x="9738360" y="6949440"/>
            <a:ext cx="7223760" cy="2377440"/>
          </a:xfrm>
          <a:prstGeom prst="rect">
            <a:avLst/>
          </a:prstGeom>
          <a:noFill/>
          <a:ln/>
        </p:spPr>
        <p:txBody>
          <a:bodyPr wrap="square" lIns="0" tIns="0" rIns="0" bIns="0" rtlCol="0" anchor="t"/>
          <a:lstStyle/>
          <a:p>
            <a:pPr indent="0" marL="0">
              <a:buNone/>
            </a:pPr>
            <a:r>
              <a:rPr lang="en-US" sz="3400" dirty="0">
                <a:solidFill>
                  <a:schemeClr val="tx1"/>
                </a:solidFill>
              </a:rPr>
              <a:t>Chỉ dùng text-embedding-3-large; đổi sang họ embedding khác (mã nguồn mở, đa ngôn ngữ) có thể làm thay đổi thứ bậc ảnh hưởng.</a:t>
            </a:r>
            <a:endParaRPr lang="en-US" sz="3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4.3 Đánh giá của nhóm</a:t>
            </a:r>
            <a:endParaRPr lang="en-US" sz="5000" dirty="0"/>
          </a:p>
        </p:txBody>
      </p:sp>
      <p:sp>
        <p:nvSpPr>
          <p:cNvPr id="3" name="Text 1"/>
          <p:cNvSpPr/>
          <p:nvPr/>
        </p:nvSpPr>
        <p:spPr>
          <a:xfrm>
            <a:off x="914400" y="1920240"/>
            <a:ext cx="8046720" cy="914400"/>
          </a:xfrm>
          <a:prstGeom prst="roundRect">
            <a:avLst>
              <a:gd name="adj" fmla="val 12000"/>
            </a:avLst>
          </a:prstGeom>
          <a:solidFill>
            <a:schemeClr val="accent1"/>
          </a:solidFill>
          <a:ln/>
        </p:spPr>
        <p:txBody>
          <a:bodyPr wrap="square" lIns="177800" tIns="177800" rIns="177800" bIns="177800" rtlCol="0" anchor="ctr"/>
          <a:lstStyle/>
          <a:p>
            <a:pPr algn="ctr" indent="0" marL="0">
              <a:buNone/>
            </a:pPr>
            <a:r>
              <a:rPr lang="en-US" sz="3600" b="1" dirty="0">
                <a:solidFill>
                  <a:schemeClr val="bg1"/>
                </a:solidFill>
              </a:rPr>
              <a:t>Điểm đáng học hỏi</a:t>
            </a:r>
            <a:endParaRPr lang="en-US" sz="3600" dirty="0"/>
          </a:p>
        </p:txBody>
      </p:sp>
      <p:sp>
        <p:nvSpPr>
          <p:cNvPr id="4" name="Shape 2"/>
          <p:cNvSpPr/>
          <p:nvPr/>
        </p:nvSpPr>
        <p:spPr>
          <a:xfrm>
            <a:off x="914400" y="3017520"/>
            <a:ext cx="8046720" cy="6492240"/>
          </a:xfrm>
          <a:prstGeom prst="roundRect">
            <a:avLst>
              <a:gd name="adj" fmla="val 1690"/>
            </a:avLst>
          </a:prstGeom>
          <a:solidFill>
            <a:schemeClr val="accent4"/>
          </a:solidFill>
          <a:ln/>
        </p:spPr>
      </p:sp>
      <p:sp>
        <p:nvSpPr>
          <p:cNvPr id="5" name="Text 3"/>
          <p:cNvSpPr txBox="1"/>
          <p:nvPr/>
        </p:nvSpPr>
        <p:spPr>
          <a:xfrm>
            <a:off x="1280160" y="3337560"/>
            <a:ext cx="7315200" cy="5943600"/>
          </a:xfrm>
          <a:prstGeom prst="rect">
            <a:avLst/>
          </a:prstGeom>
          <a:noFill/>
          <a:ln/>
        </p:spPr>
        <p:txBody>
          <a:bodyPr wrap="square" lIns="0" tIns="0" rIns="0" bIns="0" rtlCol="0" anchor="t"/>
          <a:lstStyle/>
          <a:p>
            <a:pPr marL="330200" indent="-330200">
              <a:spcAft>
                <a:spcPts val="1200"/>
              </a:spcAft>
              <a:buSzPct val="100000"/>
              <a:buChar char="•"/>
            </a:pPr>
            <a:r>
              <a:rPr lang="en-US" sz="3100" dirty="0">
                <a:solidFill>
                  <a:schemeClr val="tx1"/>
                </a:solidFill>
              </a:rPr>
              <a:t>Kết hợp ba công cụ thống kê bổ trợ trên một thiết kế thực nghiệm có kiểm soát</a:t>
            </a:r>
            <a:endParaRPr lang="en-US" sz="3400" dirty="0"/>
          </a:p>
          <a:p>
            <a:pPr marL="330200" indent="-330200">
              <a:spcAft>
                <a:spcPts val="1200"/>
              </a:spcAft>
              <a:buSzPct val="100000"/>
              <a:buChar char="•"/>
            </a:pPr>
            <a:r>
              <a:rPr lang="en-US" sz="3100" dirty="0">
                <a:solidFill>
                  <a:schemeClr val="tx1"/>
                </a:solidFill>
              </a:rPr>
              <a:t>Nhấn mạnh kích thước hiệu ứng thay vì chỉ dựa vào p-value</a:t>
            </a:r>
            <a:endParaRPr lang="en-US" sz="3400" dirty="0"/>
          </a:p>
          <a:p>
            <a:pPr marL="330200" indent="-330200">
              <a:spcAft>
                <a:spcPts val="1200"/>
              </a:spcAft>
              <a:buSzPct val="100000"/>
              <a:buChar char="•"/>
            </a:pPr>
            <a:r>
              <a:rPr lang="en-US" sz="3100" dirty="0">
                <a:solidFill>
                  <a:schemeClr val="tx1"/>
                </a:solidFill>
              </a:rPr>
              <a:t>Giúp ưu tiên nguồn lực khi thiết kế RAG: tập trung vào truy hồi và độ đo tương đồng, bỏ qua tối ưu index khi hạn chế thời gian và chi phí</a:t>
            </a:r>
            <a:endParaRPr lang="en-US" sz="3400" dirty="0"/>
          </a:p>
        </p:txBody>
      </p:sp>
      <p:sp>
        <p:nvSpPr>
          <p:cNvPr id="6" name="Text 4"/>
          <p:cNvSpPr/>
          <p:nvPr/>
        </p:nvSpPr>
        <p:spPr>
          <a:xfrm>
            <a:off x="9326880" y="1920240"/>
            <a:ext cx="8046720" cy="914400"/>
          </a:xfrm>
          <a:prstGeom prst="roundRect">
            <a:avLst>
              <a:gd name="adj" fmla="val 12000"/>
            </a:avLst>
          </a:prstGeom>
          <a:solidFill>
            <a:schemeClr val="accent6"/>
          </a:solidFill>
          <a:ln/>
        </p:spPr>
        <p:txBody>
          <a:bodyPr wrap="square" lIns="177800" tIns="177800" rIns="177800" bIns="177800" rtlCol="0" anchor="ctr"/>
          <a:lstStyle/>
          <a:p>
            <a:pPr algn="ctr" indent="0" marL="0">
              <a:buNone/>
            </a:pPr>
            <a:r>
              <a:rPr lang="en-US" sz="3600" b="1" dirty="0">
                <a:solidFill>
                  <a:schemeClr val="bg1"/>
                </a:solidFill>
              </a:rPr>
              <a:t>Hạn chế và lưu ý</a:t>
            </a:r>
            <a:endParaRPr lang="en-US" sz="3600" dirty="0"/>
          </a:p>
        </p:txBody>
      </p:sp>
      <p:sp>
        <p:nvSpPr>
          <p:cNvPr id="7" name="Shape 5"/>
          <p:cNvSpPr/>
          <p:nvPr/>
        </p:nvSpPr>
        <p:spPr>
          <a:xfrm>
            <a:off x="9326880" y="3017520"/>
            <a:ext cx="8046720" cy="6492240"/>
          </a:xfrm>
          <a:prstGeom prst="roundRect">
            <a:avLst>
              <a:gd name="adj" fmla="val 1690"/>
            </a:avLst>
          </a:prstGeom>
          <a:solidFill>
            <a:schemeClr val="accent4"/>
          </a:solidFill>
          <a:ln/>
        </p:spPr>
      </p:sp>
      <p:sp>
        <p:nvSpPr>
          <p:cNvPr id="8" name="Text 6"/>
          <p:cNvSpPr txBox="1"/>
          <p:nvPr/>
        </p:nvSpPr>
        <p:spPr>
          <a:xfrm>
            <a:off x="9692640" y="3337560"/>
            <a:ext cx="7315200" cy="5943600"/>
          </a:xfrm>
          <a:prstGeom prst="rect">
            <a:avLst/>
          </a:prstGeom>
          <a:noFill/>
          <a:ln/>
        </p:spPr>
        <p:txBody>
          <a:bodyPr wrap="square" lIns="0" tIns="0" rIns="0" bIns="0" rtlCol="0" anchor="t"/>
          <a:lstStyle/>
          <a:p>
            <a:pPr marL="330200" indent="-330200">
              <a:spcAft>
                <a:spcPts val="1200"/>
              </a:spcAft>
              <a:buSzPct val="100000"/>
              <a:buChar char="•"/>
            </a:pPr>
            <a:r>
              <a:rPr lang="en-US" sz="3100" dirty="0">
                <a:solidFill>
                  <a:schemeClr val="tx1"/>
                </a:solidFill>
              </a:rPr>
              <a:t>Không mô tả rõ cơ chế chấm Correctness, Faithfulness, Relevance: các độ đo chủ quan, khó tái lập</a:t>
            </a:r>
            <a:endParaRPr lang="en-US" sz="3400" dirty="0"/>
          </a:p>
          <a:p>
            <a:pPr marL="330200" indent="-330200">
              <a:spcAft>
                <a:spcPts val="1200"/>
              </a:spcAft>
              <a:buSzPct val="100000"/>
              <a:buChar char="•"/>
            </a:pPr>
            <a:r>
              <a:rPr lang="en-US" sz="3100" dirty="0">
                <a:solidFill>
                  <a:schemeClr val="tx1"/>
                </a:solidFill>
              </a:rPr>
              <a:t>Các thành phần không độc lập hoàn toàn, nên thứ bậc chỉ là mức trung bình trên toàn bộ tổ hợp</a:t>
            </a:r>
            <a:endParaRPr lang="en-US" sz="3400" dirty="0"/>
          </a:p>
          <a:p>
            <a:pPr marL="330200" indent="-330200">
              <a:spcAft>
                <a:spcPts val="1200"/>
              </a:spcAft>
              <a:buSzPct val="100000"/>
              <a:buChar char="•"/>
            </a:pPr>
            <a:r>
              <a:rPr lang="en-US" sz="3100" dirty="0">
                <a:solidFill>
                  <a:schemeClr val="tx1"/>
                </a:solidFill>
              </a:rPr>
              <a:t>Khi triển khai thực tế cần thực nghiệm lại trên dữ liệu và truy vấn của hệ thống</a:t>
            </a:r>
            <a:endParaRPr lang="en-US" sz="3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941832" y="54864"/>
            <a:ext cx="16367760" cy="1188720"/>
          </a:xfrm>
          <a:prstGeom prst="rect">
            <a:avLst/>
          </a:prstGeom>
          <a:noFill/>
          <a:ln/>
        </p:spPr>
        <p:txBody>
          <a:bodyPr wrap="square" lIns="0" tIns="0" rIns="0" bIns="0" rtlCol="0" anchor="ctr"/>
          <a:lstStyle/>
          <a:p>
            <a:pPr algn="l" indent="0" marL="0">
              <a:buNone/>
            </a:pPr>
            <a:r>
              <a:rPr lang="en-US" sz="5000" b="1" dirty="0">
                <a:solidFill>
                  <a:schemeClr val="bg1"/>
                </a:solidFill>
              </a:rPr>
              <a:t>Tài liệu tham khảo</a:t>
            </a:r>
            <a:endParaRPr lang="en-US" sz="5000" dirty="0"/>
          </a:p>
        </p:txBody>
      </p:sp>
      <p:sp>
        <p:nvSpPr>
          <p:cNvPr id="3" name="Text 1"/>
          <p:cNvSpPr txBox="1"/>
          <p:nvPr/>
        </p:nvSpPr>
        <p:spPr>
          <a:xfrm>
            <a:off x="914400" y="1783080"/>
            <a:ext cx="16459200" cy="7955280"/>
          </a:xfrm>
          <a:prstGeom prst="rect">
            <a:avLst/>
          </a:prstGeom>
          <a:noFill/>
          <a:ln/>
        </p:spPr>
        <p:txBody>
          <a:bodyPr wrap="square" lIns="0" tIns="0" rIns="0" bIns="0" rtlCol="0" anchor="t"/>
          <a:lstStyle/>
          <a:p>
            <a:pPr indent="0" marL="0">
              <a:spcAft>
                <a:spcPts val="1000"/>
              </a:spcAft>
              <a:buNone/>
            </a:pPr>
            <a:r>
              <a:rPr lang="en-US" sz="2400" dirty="0">
                <a:solidFill>
                  <a:schemeClr val="tx1"/>
                </a:solidFill>
              </a:rPr>
              <a:t>[1] H. Elkiran and J. Rasheed, "An empirical evaluation of retrieval, reranking, and similarity for a Q&amp;A-based retrieval augmented generation system," IEEE Access, vol. 14, pp. 26053-26066, 2026.</a:t>
            </a:r>
            <a:endParaRPr lang="en-US" sz="3400" dirty="0"/>
          </a:p>
          <a:p>
            <a:pPr indent="0" marL="0">
              <a:spcAft>
                <a:spcPts val="1000"/>
              </a:spcAft>
              <a:buNone/>
            </a:pPr>
            <a:r>
              <a:rPr lang="en-US" sz="2400" dirty="0">
                <a:solidFill>
                  <a:schemeClr val="tx1"/>
                </a:solidFill>
              </a:rPr>
              <a:t>[2] X. Li et al., "Long context vs. RAG: Strategies for processing long documents in LLMs," in Proc. 48th Int. ACM SIGIR Conf., 2025, pp. 4110-4113.</a:t>
            </a:r>
            <a:endParaRPr lang="en-US" sz="3400" dirty="0"/>
          </a:p>
          <a:p>
            <a:pPr indent="0" marL="0">
              <a:spcAft>
                <a:spcPts val="1000"/>
              </a:spcAft>
              <a:buNone/>
            </a:pPr>
            <a:r>
              <a:rPr lang="en-US" sz="2400" dirty="0">
                <a:solidFill>
                  <a:schemeClr val="tx1"/>
                </a:solidFill>
              </a:rPr>
              <a:t>[3] P. Lewis et al., "Retrieval-augmented generation for knowledge-intensive NLP tasks," in Proc. NeurIPS, vol. 33, 2020, pp. 9459-9474.</a:t>
            </a:r>
            <a:endParaRPr lang="en-US" sz="3400" dirty="0"/>
          </a:p>
          <a:p>
            <a:pPr indent="0" marL="0">
              <a:spcAft>
                <a:spcPts val="1000"/>
              </a:spcAft>
              <a:buNone/>
            </a:pPr>
            <a:r>
              <a:rPr lang="en-US" sz="2400" dirty="0">
                <a:solidFill>
                  <a:schemeClr val="tx1"/>
                </a:solidFill>
              </a:rPr>
              <a:t>[4] A. J. Oche et al., "A systematic review of key retrieval-augmented generation (RAG) systems," arXiv:2507.18910, 2025.</a:t>
            </a:r>
            <a:endParaRPr lang="en-US" sz="3400" dirty="0"/>
          </a:p>
          <a:p>
            <a:pPr indent="0" marL="0">
              <a:spcAft>
                <a:spcPts val="1000"/>
              </a:spcAft>
              <a:buNone/>
            </a:pPr>
            <a:r>
              <a:rPr lang="en-US" sz="2400" dirty="0">
                <a:solidFill>
                  <a:schemeClr val="tx1"/>
                </a:solidFill>
              </a:rPr>
              <a:t>[5] Y. Gao et al., "Retrieval-augmented generation for large language models: A survey," arXiv:2312.10997, 2023.</a:t>
            </a:r>
            <a:endParaRPr lang="en-US" sz="3400" dirty="0"/>
          </a:p>
          <a:p>
            <a:pPr indent="0" marL="0">
              <a:spcAft>
                <a:spcPts val="1000"/>
              </a:spcAft>
              <a:buNone/>
            </a:pPr>
            <a:r>
              <a:rPr lang="en-US" sz="2400" dirty="0">
                <a:solidFill>
                  <a:schemeClr val="tx1"/>
                </a:solidFill>
              </a:rPr>
              <a:t>[6] Q. M. Ilyas and S. Aziz, "Enhancing the RAG pipeline through advanced optimization techniques," in Generative AI Foundations, Developments, and Applications. IGI Global, 2025, pp. 59-80.</a:t>
            </a:r>
            <a:endParaRPr lang="en-US" sz="3400" dirty="0"/>
          </a:p>
          <a:p>
            <a:pPr indent="0" marL="0">
              <a:spcAft>
                <a:spcPts val="1000"/>
              </a:spcAft>
              <a:buNone/>
            </a:pPr>
            <a:r>
              <a:rPr lang="en-US" sz="2400" dirty="0">
                <a:solidFill>
                  <a:schemeClr val="tx1"/>
                </a:solidFill>
              </a:rPr>
              <a:t>[7] F. Brontes et al., "Learning to retrieve, generate, and compress: A unified view of efficient RAG," Preprints, 2025.</a:t>
            </a:r>
            <a:endParaRPr lang="en-US" sz="3400" dirty="0"/>
          </a:p>
          <a:p>
            <a:pPr indent="0" marL="0">
              <a:spcAft>
                <a:spcPts val="1000"/>
              </a:spcAft>
              <a:buNone/>
            </a:pPr>
            <a:r>
              <a:rPr lang="en-US" sz="2400" dirty="0">
                <a:solidFill>
                  <a:schemeClr val="tx1"/>
                </a:solidFill>
              </a:rPr>
              <a:t>[8] P. Rajpurkar et al., "SQuAD: 100,000+ questions for machine comprehension of text," arXiv:1606.05250, 2016.</a:t>
            </a:r>
            <a:endParaRPr lang="en-US" sz="3400" dirty="0"/>
          </a:p>
          <a:p>
            <a:pPr indent="0" marL="0">
              <a:spcAft>
                <a:spcPts val="1000"/>
              </a:spcAft>
              <a:buNone/>
            </a:pPr>
            <a:r>
              <a:rPr lang="en-US" sz="2400" dirty="0">
                <a:solidFill>
                  <a:schemeClr val="tx1"/>
                </a:solidFill>
              </a:rPr>
              <a:t>[9] H. Elkiran, "Wikipedia expanded SQuAD for RAG evaluation," Kaggle, 2025.</a:t>
            </a:r>
            <a:endParaRPr lang="en-US" sz="3400" dirty="0"/>
          </a:p>
        </p:txBody>
      </p:sp>
    </p:spTree>
  </p:cSld>
  <p:clrMapOvr>
    <a:masterClrMapping/>
  </p:clrMapOvr>
</p:sld>
</file>

<file path=ppt/theme/theme1.xml><?xml version="1.0" encoding="utf-8"?>
<a:theme xmlns:a="http://schemas.openxmlformats.org/drawingml/2006/main" name="UIT-Blue">
  <a:themeElements>
    <a:clrScheme name="UIT-Blue">
      <a:dk1>
        <a:srgbClr val="1A1A1A"/>
      </a:dk1>
      <a:lt1>
        <a:srgbClr val="FFFFFF"/>
      </a:lt1>
      <a:dk2>
        <a:srgbClr val="0038A8"/>
      </a:dk2>
      <a:lt2>
        <a:srgbClr val="EFEFEF"/>
      </a:lt2>
      <a:accent1>
        <a:srgbClr val="0038A8"/>
      </a:accent1>
      <a:accent2>
        <a:srgbClr val="DCE6F8"/>
      </a:accent2>
      <a:accent3>
        <a:srgbClr val="5B6475"/>
      </a:accent3>
      <a:accent4>
        <a:srgbClr val="F1F4FA"/>
      </a:accent4>
      <a:accent5>
        <a:srgbClr val="9DB3E6"/>
      </a:accent5>
      <a:accent6>
        <a:srgbClr val="A15C07"/>
      </a:accent6>
      <a:hlink>
        <a:srgbClr val="0038A8"/>
      </a:hlink>
      <a:folHlink>
        <a:srgbClr val="5B6475"/>
      </a:folHlink>
    </a:clrScheme>
    <a:fontScheme name="UIT-Blue">
      <a:majorFont>
        <a:latin typeface="Roboto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1 - A2 - An Empirical Evaluation of Retrieval, Reranking, and Similarity for a Q&amp;A-Based RAG System</dc:title>
  <dc:subject>PptxGenJS Presentation</dc:subject>
  <dc:creator>Nhóm 1</dc:creator>
  <cp:lastModifiedBy>Nhóm 1</cp:lastModifiedBy>
  <cp:revision>1</cp:revision>
  <dcterms:created xsi:type="dcterms:W3CDTF">2026-10-12T11:31:47Z</dcterms:created>
  <dcterms:modified xsi:type="dcterms:W3CDTF">2026-10-12T11:31:47Z</dcterms:modified>
</cp:coreProperties>
</file>